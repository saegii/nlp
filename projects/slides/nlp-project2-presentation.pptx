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23"/>
    <p:restoredTop sz="94730"/>
  </p:normalViewPr>
  <p:slideViewPr>
    <p:cSldViewPr snapToGrid="0">
      <p:cViewPr varScale="1">
        <p:scale>
          <a:sx n="126" d="100"/>
          <a:sy n="126" d="100"/>
        </p:scale>
        <p:origin x="232" y="2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952C2F-5B95-F9E1-44AB-8AF3D19555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03A9F00-431D-2D95-D93B-D78B45A9E8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909062-B406-9138-C33F-75046EAC1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0AE31-58A4-548E-2C2F-64EF47BF44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5D6D90-DD3C-1DDC-CA2B-A9971D1C69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9583495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B2FE60-717D-2CA6-5BE0-C1E0E81CF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658B64-690A-7B33-315E-1D7DA86593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5612D9-43B8-E4D4-0869-EEF164448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95D52D-DE70-D432-F105-EB14FB01F2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9659FF-97A0-C865-44E9-546ADDAC9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148325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65E577-78E7-A74A-9485-0D2B9A637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C374B-B50C-AA24-F7E6-FC7AA2B57A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B33D20-65D3-77BF-A669-4AD2F4677A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81D627-A063-57F8-A499-B8E5D3883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E359B-951B-61DF-7C53-86EAEBAADF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097961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673A-3758-EB4D-5F5E-8E725AF35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D9E466-1185-674E-C1E5-9895F18CE2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BAAF26-5CBD-1510-4476-084A42B913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8F65E9-FEE1-98DE-7C0A-F7EF3F3CC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CE0402-16FF-8234-A2E7-5CF7E45834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E1ED3-A697-E5DC-BAD7-6658F36146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5051428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E63692-A571-F425-A256-BA320CA71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5DA261-F846-48EF-F277-9B678B147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4AD9C1-21BB-6FDD-8B35-326B969290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FA97420-A3D5-6578-BF87-E9B18C11F4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C8FABA-50D0-EF55-5EAE-BF388689A00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DC3B38-F8BE-BD5F-20CD-CECD848260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1F92F9-BCC3-B024-C534-2860A90FC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33F573-CB47-A943-1004-A23DE4F1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250673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63158-9E83-50F3-A0DB-59406D0FDE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F64A07B-3A2A-61D2-EA81-3384BA76AB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D726A74-9719-A352-8BD8-1FC74C6685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09764B-E707-BDFE-5CEF-DE2F19F53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721534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5BBDACF-4E55-60AF-47BE-639F6F569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E47A6C-50F5-E8CD-E294-5CB3119C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D999B-FD76-0EC0-17A0-D7C9CDCF1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346270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51E18-231A-C105-A823-0FC714F401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49DE5E-A5D9-EFF7-BEAB-F0731D9617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A6CF29-7CAB-2A91-A163-A1B2528E3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513F31-4071-A324-2E2C-343BECCA89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229BB-9D2F-CB51-4378-1560F2C8D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FF22C5-887D-758F-6785-248EBC96E5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389042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9CA6-F956-CF6B-8C51-0F440C044F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563D37-D49F-E29E-DB3F-7060484DD3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3E5B70-FE3E-C4EF-BA1C-C336E2775E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F8F988-AF95-B3FA-EFEC-E3E2C806D4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4E2973-8225-C095-FD38-45900B4504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7900FDB-394D-5FC5-817D-6E20FAC57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9308634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82E81-C7C0-0C90-35D5-E82164AA4D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6DE9E3-7FE5-2D17-ACFF-D21B1FED9D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BA68B7-F31F-B72C-A545-512C256E0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76747-BF3E-16A0-267D-91EC9C893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38320-C630-6A87-6482-39C93FDA0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820756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5302FA6-242B-EA5F-42DA-877E84DA90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44D982-CA26-0361-8C47-A33B12E7BB6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BC28C2-3DA5-A5B1-C5D2-EAF1B70C9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8F9903-5D8C-32DD-D8F2-9FB6AC439D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6975FE-52C0-424A-DC09-B8C2DE6995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4521240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C6A7B9-BB08-8524-EE19-C0678C3CB2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44FBF7-CCB3-93FA-F3CA-A5D7837AF2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E5DCAD-FCB0-CD8D-E07E-759229EB626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5D47A1-E3A5-6746-A1AA-9B027EE4F344}" type="datetimeFigureOut">
              <a:rPr lang="en-CH" smtClean="0"/>
              <a:t>26.05.2026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948EDE-4E02-B279-656B-C9D7083E81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04BDD0-CDA5-A4AD-FFEB-7A289E9069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ECF9C8-2931-DA4F-866A-DC61703457FB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08036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10561-C0D8-DFF0-0E68-D958DD55765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CH" dirty="0"/>
              <a:t>Transformers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002B2E-461B-3BAD-21D0-309B4591D6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en-CH" dirty="0"/>
              <a:t>Physical Commonsense Reasoning on PIQA</a:t>
            </a:r>
          </a:p>
          <a:p>
            <a:pPr algn="l"/>
            <a:r>
              <a:rPr lang="en-CH" dirty="0"/>
              <a:t>NLP– Sacha Vogel</a:t>
            </a:r>
          </a:p>
        </p:txBody>
      </p:sp>
    </p:spTree>
    <p:extLst>
      <p:ext uri="{BB962C8B-B14F-4D97-AF65-F5344CB8AC3E}">
        <p14:creationId xmlns:p14="http://schemas.microsoft.com/office/powerpoint/2010/main" val="39605612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3E8-A468-A30B-7B45-E2E008616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Preprocessing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DBAB5-34EE-EEFE-506D-80D32626B7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505960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CH" b="1" dirty="0"/>
              <a:t>DATA</a:t>
            </a:r>
          </a:p>
          <a:p>
            <a:pPr marL="0" indent="0">
              <a:buNone/>
            </a:pPr>
            <a:r>
              <a:rPr lang="en-CH" dirty="0"/>
              <a:t>	</a:t>
            </a:r>
            <a:r>
              <a:rPr lang="en-GB" dirty="0">
                <a:solidFill>
                  <a:srgbClr val="067D17"/>
                </a:solidFill>
                <a:effectLst/>
              </a:rPr>
              <a:t> </a:t>
            </a:r>
            <a:r>
              <a:rPr lang="en-GB" dirty="0" err="1">
                <a:solidFill>
                  <a:srgbClr val="067D17"/>
                </a:solidFill>
                <a:effectLst/>
              </a:rPr>
              <a:t>ybisk</a:t>
            </a:r>
            <a:r>
              <a:rPr lang="en-GB" dirty="0">
                <a:solidFill>
                  <a:srgbClr val="067D17"/>
                </a:solidFill>
                <a:effectLst/>
              </a:rPr>
              <a:t>/</a:t>
            </a:r>
            <a:r>
              <a:rPr lang="en-GB" dirty="0" err="1">
                <a:solidFill>
                  <a:srgbClr val="067D17"/>
                </a:solidFill>
                <a:effectLst/>
              </a:rPr>
              <a:t>piqa</a:t>
            </a:r>
            <a:r>
              <a:rPr lang="en-GB" dirty="0">
                <a:solidFill>
                  <a:srgbClr val="080808"/>
                </a:solidFill>
              </a:rPr>
              <a:t> 	into </a:t>
            </a:r>
            <a:endParaRPr lang="en-CH" dirty="0"/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b="1" dirty="0"/>
              <a:t>FEATURE SELECTION</a:t>
            </a: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dirty="0"/>
              <a:t>	</a:t>
            </a:r>
            <a:r>
              <a:rPr lang="en-GB" dirty="0">
                <a:solidFill>
                  <a:srgbClr val="080808"/>
                </a:solidFill>
                <a:effectLst/>
              </a:rPr>
              <a:t>COL_GOAL = </a:t>
            </a:r>
            <a:r>
              <a:rPr lang="en-GB" dirty="0">
                <a:solidFill>
                  <a:srgbClr val="067D17"/>
                </a:solidFill>
                <a:effectLst/>
              </a:rPr>
              <a:t>'goal’</a:t>
            </a:r>
            <a:br>
              <a:rPr lang="en-GB" dirty="0">
                <a:solidFill>
                  <a:srgbClr val="067D17"/>
                </a:solidFill>
                <a:effectLst/>
              </a:rPr>
            </a:br>
            <a:r>
              <a:rPr lang="en-GB" dirty="0">
                <a:solidFill>
                  <a:srgbClr val="067D17"/>
                </a:solidFill>
                <a:effectLst/>
              </a:rPr>
              <a:t>	</a:t>
            </a:r>
            <a:r>
              <a:rPr lang="en-GB" dirty="0">
                <a:solidFill>
                  <a:srgbClr val="080808"/>
                </a:solidFill>
                <a:effectLst/>
              </a:rPr>
              <a:t>COL_SOL1 = </a:t>
            </a:r>
            <a:r>
              <a:rPr lang="en-GB" dirty="0">
                <a:solidFill>
                  <a:srgbClr val="067D17"/>
                </a:solidFill>
                <a:effectLst/>
              </a:rPr>
              <a:t>'sol1’</a:t>
            </a:r>
            <a:br>
              <a:rPr lang="en-GB" dirty="0">
                <a:solidFill>
                  <a:srgbClr val="067D17"/>
                </a:solidFill>
                <a:effectLst/>
              </a:rPr>
            </a:br>
            <a:r>
              <a:rPr lang="en-GB" dirty="0">
                <a:solidFill>
                  <a:srgbClr val="067D17"/>
                </a:solidFill>
                <a:effectLst/>
              </a:rPr>
              <a:t>	</a:t>
            </a:r>
            <a:r>
              <a:rPr lang="en-GB" dirty="0">
                <a:solidFill>
                  <a:srgbClr val="080808"/>
                </a:solidFill>
                <a:effectLst/>
              </a:rPr>
              <a:t>COL_SOL2 = </a:t>
            </a:r>
            <a:r>
              <a:rPr lang="en-GB" dirty="0">
                <a:solidFill>
                  <a:srgbClr val="067D17"/>
                </a:solidFill>
                <a:effectLst/>
              </a:rPr>
              <a:t>'sol2’</a:t>
            </a:r>
            <a:br>
              <a:rPr lang="en-GB" dirty="0">
                <a:solidFill>
                  <a:srgbClr val="067D17"/>
                </a:solidFill>
                <a:effectLst/>
              </a:rPr>
            </a:br>
            <a:r>
              <a:rPr lang="en-GB" dirty="0">
                <a:solidFill>
                  <a:srgbClr val="067D17"/>
                </a:solidFill>
                <a:effectLst/>
              </a:rPr>
              <a:t>	</a:t>
            </a:r>
            <a:r>
              <a:rPr lang="en-GB" dirty="0">
                <a:solidFill>
                  <a:srgbClr val="080808"/>
                </a:solidFill>
                <a:effectLst/>
              </a:rPr>
              <a:t>COL_LABEL = </a:t>
            </a:r>
            <a:r>
              <a:rPr lang="en-GB" dirty="0">
                <a:solidFill>
                  <a:srgbClr val="067D17"/>
                </a:solidFill>
                <a:effectLst/>
              </a:rPr>
              <a:t>'label'</a:t>
            </a:r>
            <a:endParaRPr lang="en-GB" dirty="0">
              <a:solidFill>
                <a:srgbClr val="080808"/>
              </a:solidFill>
              <a:effectLst/>
            </a:endParaRPr>
          </a:p>
          <a:p>
            <a:pPr marL="0" indent="0">
              <a:buNone/>
            </a:pPr>
            <a:endParaRPr lang="en-CH" dirty="0"/>
          </a:p>
          <a:p>
            <a:pPr marL="0" indent="0">
              <a:buNone/>
            </a:pPr>
            <a:r>
              <a:rPr lang="en-CH" b="1" dirty="0"/>
              <a:t>FILTER HTML ELEMENTS</a:t>
            </a:r>
          </a:p>
          <a:p>
            <a:pPr marL="0" indent="0">
              <a:buNone/>
            </a:pPr>
            <a:endParaRPr lang="en-CH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2E9873C9-5C10-2C2C-6E1A-C6848D11F4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1032501"/>
              </p:ext>
            </p:extLst>
          </p:nvPr>
        </p:nvGraphicFramePr>
        <p:xfrm>
          <a:off x="5029200" y="1825625"/>
          <a:ext cx="4785360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392680">
                  <a:extLst>
                    <a:ext uri="{9D8B030D-6E8A-4147-A177-3AD203B41FA5}">
                      <a16:colId xmlns:a16="http://schemas.microsoft.com/office/drawing/2014/main" val="950871303"/>
                    </a:ext>
                  </a:extLst>
                </a:gridCol>
                <a:gridCol w="2392680">
                  <a:extLst>
                    <a:ext uri="{9D8B030D-6E8A-4147-A177-3AD203B41FA5}">
                      <a16:colId xmlns:a16="http://schemas.microsoft.com/office/drawing/2014/main" val="34144395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training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CH" dirty="0"/>
                        <a:t>15'113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606644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validation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1’000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91878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test 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1’838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03628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74841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3E8-A468-A30B-7B45-E2E008616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Input / Output Format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DBAB5-34EE-EEFE-506D-80D32626B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008471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3E8-A468-A30B-7B45-E2E008616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Network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DBAB5-34EE-EEFE-506D-80D32626B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244501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3E8-A468-A30B-7B45-E2E008616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Experiments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DBAB5-34EE-EEFE-506D-80D32626B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762456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3E8-A468-A30B-7B45-E2E008616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Results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FED4360-A5C2-82D2-160F-48D28627796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65899192"/>
              </p:ext>
            </p:extLst>
          </p:nvPr>
        </p:nvGraphicFramePr>
        <p:xfrm>
          <a:off x="838200" y="2108200"/>
          <a:ext cx="10515600" cy="2839720"/>
        </p:xfrm>
        <a:graphic>
          <a:graphicData uri="http://schemas.openxmlformats.org/drawingml/2006/table">
            <a:tbl>
              <a:tblPr firstRow="1" bandRow="1">
                <a:tableStyleId>{9D7B26C5-4107-4FEC-AEDC-1716B250A1EF}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95399409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341483827"/>
                    </a:ext>
                  </a:extLst>
                </a:gridCol>
                <a:gridCol w="2804160">
                  <a:extLst>
                    <a:ext uri="{9D8B030D-6E8A-4147-A177-3AD203B41FA5}">
                      <a16:colId xmlns:a16="http://schemas.microsoft.com/office/drawing/2014/main" val="2574548658"/>
                    </a:ext>
                  </a:extLst>
                </a:gridCol>
                <a:gridCol w="2453640">
                  <a:extLst>
                    <a:ext uri="{9D8B030D-6E8A-4147-A177-3AD203B41FA5}">
                      <a16:colId xmlns:a16="http://schemas.microsoft.com/office/drawing/2014/main" val="14238036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Training Set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Validation Set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Test Set Accuracy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6785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Random Initialized BERT</a:t>
                      </a:r>
                    </a:p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0.517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0.496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0727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Pretrained BERT </a:t>
                      </a:r>
                    </a:p>
                    <a:p>
                      <a:r>
                        <a:rPr lang="en-CH" dirty="0"/>
                        <a:t>(bert-base-uncased)</a:t>
                      </a:r>
                    </a:p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0.956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0.668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0.656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33882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CH" dirty="0"/>
                        <a:t>LLM </a:t>
                      </a:r>
                    </a:p>
                    <a:p>
                      <a:r>
                        <a:rPr lang="en-GB" dirty="0">
                          <a:solidFill>
                            <a:srgbClr val="080808"/>
                          </a:solidFill>
                          <a:effectLst/>
                        </a:rPr>
                        <a:t>(Qwen2.5-3B-Instruct)</a:t>
                      </a:r>
                    </a:p>
                    <a:p>
                      <a:endParaRPr lang="en-CH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CH" dirty="0"/>
                        <a:t>0.753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00769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9130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073E8-A468-A30B-7B45-E2E0086166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H" dirty="0"/>
              <a:t>Interpretation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DBAB5-34EE-EEFE-506D-80D32626B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56630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10561-C0D8-DFF0-0E68-D958DD5576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0354" y="2235200"/>
            <a:ext cx="9144000" cy="2387600"/>
          </a:xfrm>
        </p:spPr>
        <p:txBody>
          <a:bodyPr/>
          <a:lstStyle/>
          <a:p>
            <a:pPr algn="l"/>
            <a:r>
              <a:rPr lang="en-CH" b="1" dirty="0"/>
              <a:t>Thank You </a:t>
            </a:r>
            <a:r>
              <a:rPr lang="en-CH" dirty="0"/>
              <a:t>For Your Attention!</a:t>
            </a:r>
          </a:p>
        </p:txBody>
      </p:sp>
    </p:spTree>
    <p:extLst>
      <p:ext uri="{BB962C8B-B14F-4D97-AF65-F5344CB8AC3E}">
        <p14:creationId xmlns:p14="http://schemas.microsoft.com/office/powerpoint/2010/main" val="4242504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910561-C0D8-DFF0-0E68-D958DD5576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0354" y="2235200"/>
            <a:ext cx="9144000" cy="2387600"/>
          </a:xfrm>
        </p:spPr>
        <p:txBody>
          <a:bodyPr/>
          <a:lstStyle/>
          <a:p>
            <a:pPr algn="l"/>
            <a:r>
              <a:rPr lang="en-CH" dirty="0"/>
              <a:t>Are There Any </a:t>
            </a:r>
            <a:r>
              <a:rPr lang="en-CH" b="1" dirty="0"/>
              <a:t>Questions</a:t>
            </a:r>
            <a:r>
              <a:rPr lang="en-CH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076460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115</Words>
  <Application>Microsoft Macintosh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Transformers</vt:lpstr>
      <vt:lpstr>Preprocessing</vt:lpstr>
      <vt:lpstr>Input / Output Format</vt:lpstr>
      <vt:lpstr>Network Architecture</vt:lpstr>
      <vt:lpstr>Experiments</vt:lpstr>
      <vt:lpstr>Results</vt:lpstr>
      <vt:lpstr>Interpretation</vt:lpstr>
      <vt:lpstr>Thank You For Your Attention!</vt:lpstr>
      <vt:lpstr>Are There Any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Vogel Sacha I.BSCAIML.2301</dc:creator>
  <cp:lastModifiedBy>Vogel Sacha I.BSCAIML.2301</cp:lastModifiedBy>
  <cp:revision>3</cp:revision>
  <dcterms:created xsi:type="dcterms:W3CDTF">2026-05-26T20:16:37Z</dcterms:created>
  <dcterms:modified xsi:type="dcterms:W3CDTF">2026-05-26T20:37:49Z</dcterms:modified>
</cp:coreProperties>
</file>