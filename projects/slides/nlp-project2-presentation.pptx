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71" r:id="rId8"/>
    <p:sldId id="274" r:id="rId9"/>
    <p:sldId id="270" r:id="rId10"/>
    <p:sldId id="275" r:id="rId11"/>
    <p:sldId id="260" r:id="rId12"/>
    <p:sldId id="261" r:id="rId13"/>
    <p:sldId id="276" r:id="rId14"/>
    <p:sldId id="277" r:id="rId15"/>
    <p:sldId id="263" r:id="rId16"/>
    <p:sldId id="264" r:id="rId1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30"/>
  </p:normalViewPr>
  <p:slideViewPr>
    <p:cSldViewPr snapToGrid="0">
      <p:cViewPr>
        <p:scale>
          <a:sx n="91" d="100"/>
          <a:sy n="91" d="100"/>
        </p:scale>
        <p:origin x="36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C2F-5B95-F9E1-44AB-8AF3D1955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A9F00-431D-2D95-D93B-D78B45A9E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09062-B406-9138-C33F-75046EAC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0AE31-58A4-548E-2C2F-64EF47BF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D6D90-DD3C-1DDC-CA2B-A9971D1C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5834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FE60-717D-2CA6-5BE0-C1E0E81C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58B64-690A-7B33-315E-1D7DA8659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612D9-43B8-E4D4-0869-EEF16444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5D52D-DE70-D432-F105-EB14FB01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59FF-97A0-C865-44E9-546ADDAC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8325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E577-78E7-A74A-9485-0D2B9A63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C374B-B50C-AA24-F7E6-FC7AA2B57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3D20-65D3-77BF-A669-4AD2F467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D627-A063-57F8-A499-B8E5D388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E359B-951B-61DF-7C53-86EAEBAA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0979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673A-3758-EB4D-5F5E-8E725AF3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9E466-1185-674E-C1E5-9895F18CE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AAF26-5CBD-1510-4476-084A42B91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F65E9-FEE1-98DE-7C0A-F7EF3F3C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E0402-16FF-8234-A2E7-5CF7E458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E1ED3-A697-E5DC-BAD7-6658F361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514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3692-A571-F425-A256-BA320CA7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DA261-F846-48EF-F277-9B678B147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AD9C1-21BB-6FDD-8B35-326B96929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97420-A3D5-6578-BF87-E9B18C11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8FABA-50D0-EF55-5EAE-BF388689A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C3B38-F8BE-BD5F-20CD-CECD8482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1F92F9-BCC3-B024-C534-2860A90F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3F573-CB47-A943-1004-A23DE4F1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5067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3158-9E83-50F3-A0DB-59406D0F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4A07B-3A2A-61D2-EA81-3384BA76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6A74-9719-A352-8BD8-1FC74C66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9764B-E707-BDFE-5CEF-DE2F19F5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215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BDACF-4E55-60AF-47BE-639F6F56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47A6C-50F5-E8CD-E294-5CB3119C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D999B-FD76-0EC0-17A0-D7C9CDCF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3462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1E18-231A-C105-A823-0FC714F4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DE5E-A5D9-EFF7-BEAB-F0731D96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6CF29-7CAB-2A91-A163-A1B2528E3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13F31-4071-A324-2E2C-343BECCA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29BB-9D2F-CB51-4378-1560F2C8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22C5-887D-758F-6785-248EBC96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890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9CA6-F956-CF6B-8C51-0F440C04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63D37-D49F-E29E-DB3F-7060484DD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E5B70-FE3E-C4EF-BA1C-C336E2775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8F988-AF95-B3FA-EFEC-E3E2C806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2973-8225-C095-FD38-45900B45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00FDB-394D-5FC5-817D-6E20FAC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086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82E81-C7C0-0C90-35D5-E82164AA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DE9E3-7FE5-2D17-ACFF-D21B1FED9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68B7-F31F-B72C-A545-512C256E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6747-BF3E-16A0-267D-91EC9C89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38320-C630-6A87-6482-39C93FDA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8207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02FA6-242B-EA5F-42DA-877E84DA9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4D982-CA26-0361-8C47-A33B12E7B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28C2-3DA5-A5B1-C5D2-EAF1B70C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9903-5D8C-32DD-D8F2-9FB6AC43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75FE-52C0-424A-DC09-B8C2DE69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5212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6A7B9-BB08-8524-EE19-C0678C3C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4FBF7-CCB3-93FA-F3CA-A5D7837AF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5DCAD-FCB0-CD8D-E07E-759229EB6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D47A1-E3A5-6746-A1AA-9B027EE4F344}" type="datetimeFigureOut">
              <a:rPr lang="en-CH" smtClean="0"/>
              <a:t>26.05.2026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48EDE-4E02-B279-656B-C9D7083E8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4BDD0-CDA5-A4AD-FFEB-7A289E906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CF9C8-2931-DA4F-866A-DC61703457F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036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0561-C0D8-DFF0-0E68-D958DD557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CH" dirty="0"/>
              <a:t>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02B2E-461B-3BAD-21D0-309B4591D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CH" dirty="0"/>
              <a:t>Physical Commonsense Reasoning on PIQA</a:t>
            </a:r>
          </a:p>
          <a:p>
            <a:pPr algn="l"/>
            <a:r>
              <a:rPr lang="en-CH" dirty="0"/>
              <a:t>NLP – Sacha Vogel</a:t>
            </a:r>
          </a:p>
        </p:txBody>
      </p:sp>
    </p:spTree>
    <p:extLst>
      <p:ext uri="{BB962C8B-B14F-4D97-AF65-F5344CB8AC3E}">
        <p14:creationId xmlns:p14="http://schemas.microsoft.com/office/powerpoint/2010/main" val="396056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DBAB5-34EE-EEFE-506D-80D32626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596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H" b="1" dirty="0"/>
              <a:t>DATA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GB" dirty="0">
                <a:solidFill>
                  <a:srgbClr val="067D17"/>
                </a:solidFill>
                <a:effectLst/>
              </a:rPr>
              <a:t> </a:t>
            </a:r>
            <a:r>
              <a:rPr lang="en-GB" dirty="0" err="1">
                <a:solidFill>
                  <a:srgbClr val="067D17"/>
                </a:solidFill>
                <a:effectLst/>
              </a:rPr>
              <a:t>ybisk</a:t>
            </a:r>
            <a:r>
              <a:rPr lang="en-GB" dirty="0">
                <a:solidFill>
                  <a:srgbClr val="067D17"/>
                </a:solidFill>
                <a:effectLst/>
              </a:rPr>
              <a:t>/</a:t>
            </a:r>
            <a:r>
              <a:rPr lang="en-GB" dirty="0" err="1">
                <a:solidFill>
                  <a:srgbClr val="067D17"/>
                </a:solidFill>
                <a:effectLst/>
              </a:rPr>
              <a:t>piqa</a:t>
            </a:r>
            <a:r>
              <a:rPr lang="en-GB" dirty="0">
                <a:solidFill>
                  <a:srgbClr val="080808"/>
                </a:solidFill>
              </a:rPr>
              <a:t> 	into </a:t>
            </a: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b="1" dirty="0"/>
              <a:t>FEATURE SELECTION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GB" dirty="0">
                <a:solidFill>
                  <a:srgbClr val="080808"/>
                </a:solidFill>
                <a:effectLst/>
              </a:rPr>
              <a:t>COL_GOAL = </a:t>
            </a:r>
            <a:r>
              <a:rPr lang="en-GB" dirty="0">
                <a:solidFill>
                  <a:srgbClr val="067D17"/>
                </a:solidFill>
                <a:effectLst/>
              </a:rPr>
              <a:t>'goal’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	</a:t>
            </a:r>
            <a:r>
              <a:rPr lang="en-GB" dirty="0">
                <a:solidFill>
                  <a:srgbClr val="080808"/>
                </a:solidFill>
                <a:effectLst/>
              </a:rPr>
              <a:t>COL_SOL1 = </a:t>
            </a:r>
            <a:r>
              <a:rPr lang="en-GB" dirty="0">
                <a:solidFill>
                  <a:srgbClr val="067D17"/>
                </a:solidFill>
                <a:effectLst/>
              </a:rPr>
              <a:t>'sol1’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	</a:t>
            </a:r>
            <a:r>
              <a:rPr lang="en-GB" dirty="0">
                <a:solidFill>
                  <a:srgbClr val="080808"/>
                </a:solidFill>
                <a:effectLst/>
              </a:rPr>
              <a:t>COL_SOL2 = </a:t>
            </a:r>
            <a:r>
              <a:rPr lang="en-GB" dirty="0">
                <a:solidFill>
                  <a:srgbClr val="067D17"/>
                </a:solidFill>
                <a:effectLst/>
              </a:rPr>
              <a:t>'sol2’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	</a:t>
            </a:r>
            <a:r>
              <a:rPr lang="en-GB" dirty="0">
                <a:solidFill>
                  <a:srgbClr val="080808"/>
                </a:solidFill>
                <a:effectLst/>
              </a:rPr>
              <a:t>COL_LABEL = </a:t>
            </a:r>
            <a:r>
              <a:rPr lang="en-GB" dirty="0">
                <a:solidFill>
                  <a:srgbClr val="067D17"/>
                </a:solidFill>
                <a:effectLst/>
              </a:rPr>
              <a:t>'label'</a:t>
            </a:r>
            <a:endParaRPr lang="en-GB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b="1" dirty="0"/>
              <a:t>FILTER HTML ELEMENTS</a:t>
            </a:r>
          </a:p>
          <a:p>
            <a:pPr marL="0" indent="0">
              <a:buNone/>
            </a:pPr>
            <a:endParaRPr lang="en-CH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9873C9-5C10-2C2C-6E1A-C6848D11F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32501"/>
              </p:ext>
            </p:extLst>
          </p:nvPr>
        </p:nvGraphicFramePr>
        <p:xfrm>
          <a:off x="5029200" y="1825625"/>
          <a:ext cx="478536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2680">
                  <a:extLst>
                    <a:ext uri="{9D8B030D-6E8A-4147-A177-3AD203B41FA5}">
                      <a16:colId xmlns:a16="http://schemas.microsoft.com/office/drawing/2014/main" val="950871303"/>
                    </a:ext>
                  </a:extLst>
                </a:gridCol>
                <a:gridCol w="2392680">
                  <a:extLst>
                    <a:ext uri="{9D8B030D-6E8A-4147-A177-3AD203B41FA5}">
                      <a16:colId xmlns:a16="http://schemas.microsoft.com/office/drawing/2014/main" val="341443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training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15'113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64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validation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1’000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8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1’838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362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Transformers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92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TOKENIZATION</a:t>
            </a:r>
          </a:p>
          <a:p>
            <a:pPr marL="0" indent="0">
              <a:buNone/>
            </a:pPr>
            <a:r>
              <a:rPr lang="en-CH" sz="2200" dirty="0"/>
              <a:t>	</a:t>
            </a:r>
            <a:r>
              <a:rPr lang="en-GB" sz="2200" dirty="0" err="1">
                <a:solidFill>
                  <a:srgbClr val="067D17"/>
                </a:solidFill>
                <a:effectLst/>
              </a:rPr>
              <a:t>bert</a:t>
            </a:r>
            <a:r>
              <a:rPr lang="en-GB" sz="2200" dirty="0">
                <a:solidFill>
                  <a:srgbClr val="067D17"/>
                </a:solidFill>
                <a:effectLst/>
              </a:rPr>
              <a:t>-base-uncased</a:t>
            </a:r>
          </a:p>
          <a:p>
            <a:pPr marL="0" indent="0">
              <a:buNone/>
            </a:pPr>
            <a:r>
              <a:rPr lang="en-CH" sz="2200" dirty="0"/>
              <a:t>	truncate at 126 (99th percentile)</a:t>
            </a:r>
          </a:p>
          <a:p>
            <a:pPr marL="0" indent="0">
              <a:buNone/>
            </a:pPr>
            <a:r>
              <a:rPr lang="en-CH" sz="2200" dirty="0"/>
              <a:t>	(OOM with max input length - 512)</a:t>
            </a:r>
          </a:p>
          <a:p>
            <a:pPr marL="0" indent="0">
              <a:buNone/>
            </a:pPr>
            <a:endParaRPr lang="en-CH" sz="2200" dirty="0"/>
          </a:p>
          <a:p>
            <a:pPr marL="0" indent="0">
              <a:buNone/>
            </a:pPr>
            <a:endParaRPr lang="en-CH" sz="2200" dirty="0"/>
          </a:p>
          <a:p>
            <a:pPr marL="0" indent="0">
              <a:buNone/>
            </a:pPr>
            <a:r>
              <a:rPr lang="en-CH" sz="2200" b="1" dirty="0"/>
              <a:t>TEXT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4F0C7-CD48-4575-E956-689CE80D6E2B}"/>
              </a:ext>
            </a:extLst>
          </p:cNvPr>
          <p:cNvSpPr txBox="1"/>
          <p:nvPr/>
        </p:nvSpPr>
        <p:spPr>
          <a:xfrm>
            <a:off x="1778000" y="4876800"/>
            <a:ext cx="863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067D17"/>
                </a:solidFill>
                <a:effectLst/>
              </a:rPr>
              <a:t>['[CLS]', 'when', 'boiling', 'butter', ',', 'when', 'it', "'", 's', 'ready', ',', 'you', 'can', '[SEP]', 'pour', 'it', 'onto', 'a', 'plate', '[SEP]']</a:t>
            </a:r>
            <a:endParaRPr lang="en-GB" sz="2200" dirty="0">
              <a:solidFill>
                <a:srgbClr val="08080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337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Transformers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69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TOKENIZATION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label					</a:t>
            </a:r>
            <a:r>
              <a:rPr lang="en-CH" sz="2200" i="1" dirty="0"/>
              <a:t>0 or 1</a:t>
            </a:r>
          </a:p>
          <a:p>
            <a:pPr marL="0" indent="0">
              <a:buNone/>
            </a:pP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2200" dirty="0"/>
              <a:t>input1_attention_mask		</a:t>
            </a:r>
            <a:r>
              <a:rPr lang="en-GB" sz="2200" i="1" dirty="0"/>
              <a:t>always 1</a:t>
            </a:r>
          </a:p>
          <a:p>
            <a:pPr marL="0" indent="0">
              <a:buNone/>
            </a:pPr>
            <a:r>
              <a:rPr lang="en-GB" sz="2200" dirty="0"/>
              <a:t>	input1_input_ids			</a:t>
            </a:r>
            <a:r>
              <a:rPr lang="en-GB" sz="2200" i="1" dirty="0"/>
              <a:t>token ids</a:t>
            </a:r>
          </a:p>
          <a:p>
            <a:pPr marL="0" indent="0">
              <a:buNone/>
            </a:pPr>
            <a:r>
              <a:rPr lang="en-GB" sz="2200" dirty="0"/>
              <a:t>	input1_token_type_ids			</a:t>
            </a:r>
            <a:r>
              <a:rPr lang="en-GB" sz="2200" i="1" dirty="0"/>
              <a:t>goal 0 / sol 1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	input2_attention_mask		</a:t>
            </a:r>
            <a:r>
              <a:rPr lang="en-GB" sz="2200" i="1" dirty="0"/>
              <a:t>always 1</a:t>
            </a:r>
          </a:p>
          <a:p>
            <a:pPr marL="0" indent="0">
              <a:buNone/>
            </a:pPr>
            <a:r>
              <a:rPr lang="en-GB" sz="2200" dirty="0"/>
              <a:t>	input2_input_ids			</a:t>
            </a:r>
            <a:r>
              <a:rPr lang="en-GB" sz="2200" i="1" dirty="0"/>
              <a:t>token ids</a:t>
            </a:r>
          </a:p>
          <a:p>
            <a:pPr marL="0" indent="0">
              <a:buNone/>
            </a:pPr>
            <a:r>
              <a:rPr lang="en-GB" sz="2200" dirty="0"/>
              <a:t>	input2_token_type_ids			</a:t>
            </a:r>
            <a:r>
              <a:rPr lang="en-GB" sz="2200" i="1" dirty="0"/>
              <a:t>goal 0 / sol 1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endParaRPr lang="en-CH" sz="2200" dirty="0"/>
          </a:p>
          <a:p>
            <a:pPr marL="0" indent="0">
              <a:buNone/>
            </a:pPr>
            <a:endParaRPr lang="en-CH" sz="2200" dirty="0"/>
          </a:p>
        </p:txBody>
      </p:sp>
    </p:spTree>
    <p:extLst>
      <p:ext uri="{BB962C8B-B14F-4D97-AF65-F5344CB8AC3E}">
        <p14:creationId xmlns:p14="http://schemas.microsoft.com/office/powerpoint/2010/main" val="300847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Transformers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69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DATA LOADER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1600" dirty="0">
                <a:solidFill>
                  <a:srgbClr val="080808"/>
                </a:solidFill>
                <a:effectLst/>
              </a:rPr>
              <a:t> </a:t>
            </a:r>
            <a:r>
              <a:rPr lang="en-GB" sz="2200" dirty="0">
                <a:solidFill>
                  <a:srgbClr val="080808"/>
                </a:solidFill>
                <a:effectLst/>
              </a:rPr>
              <a:t>BATCH_SIZE = </a:t>
            </a:r>
            <a:r>
              <a:rPr lang="en-GB" sz="2200" dirty="0">
                <a:solidFill>
                  <a:srgbClr val="1750EB"/>
                </a:solidFill>
                <a:effectLst/>
              </a:rPr>
              <a:t>32</a:t>
            </a:r>
            <a:endParaRPr lang="en-GB" sz="2200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r>
              <a:rPr lang="en-CH" sz="2200" b="1" dirty="0"/>
              <a:t>	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pad to longest input sequence in batch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create tensor for each input</a:t>
            </a: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	</a:t>
            </a:r>
            <a:endParaRPr lang="en-CH" sz="2200" dirty="0"/>
          </a:p>
          <a:p>
            <a:pPr marL="0" indent="0">
              <a:buNone/>
            </a:pPr>
            <a:r>
              <a:rPr lang="en-CH" sz="2200" b="1" dirty="0"/>
              <a:t>FINAL INPUT FORMAT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encode inputs into [CLS] vector (768 dim)</a:t>
            </a:r>
          </a:p>
          <a:p>
            <a:pPr marL="0" indent="0">
              <a:buNone/>
            </a:pPr>
            <a:r>
              <a:rPr lang="en-CH" sz="2200" dirty="0"/>
              <a:t>	concatenate CLS1 &amp; CLS2 into (1536 dim)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001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Transformers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7446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OUTPUT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1600" dirty="0">
                <a:solidFill>
                  <a:srgbClr val="080808"/>
                </a:solidFill>
                <a:effectLst/>
              </a:rPr>
              <a:t> </a:t>
            </a:r>
            <a:r>
              <a:rPr lang="de-CH" sz="2200" dirty="0">
                <a:solidFill>
                  <a:srgbClr val="080808"/>
                </a:solidFill>
                <a:effectLst/>
              </a:rPr>
              <a:t>2 </a:t>
            </a:r>
            <a:r>
              <a:rPr lang="de-CH" sz="2200" dirty="0" err="1">
                <a:solidFill>
                  <a:srgbClr val="080808"/>
                </a:solidFill>
                <a:effectLst/>
              </a:rPr>
              <a:t>logits</a:t>
            </a:r>
            <a:endParaRPr lang="de-CH" sz="2200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r>
              <a:rPr lang="de-CH" sz="2200" b="1" dirty="0">
                <a:solidFill>
                  <a:srgbClr val="080808"/>
                </a:solidFill>
              </a:rPr>
              <a:t>	</a:t>
            </a:r>
            <a:r>
              <a:rPr lang="de-CH" sz="2200" dirty="0" err="1">
                <a:solidFill>
                  <a:srgbClr val="080808"/>
                </a:solidFill>
              </a:rPr>
              <a:t>argmax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of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those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logits</a:t>
            </a:r>
            <a:r>
              <a:rPr lang="de-CH" sz="2200" dirty="0">
                <a:solidFill>
                  <a:srgbClr val="080808"/>
                </a:solidFill>
              </a:rPr>
              <a:t> 		</a:t>
            </a:r>
            <a:r>
              <a:rPr lang="de-CH" sz="2200" dirty="0" err="1">
                <a:solidFill>
                  <a:srgbClr val="080808"/>
                </a:solidFill>
              </a:rPr>
              <a:t>predicted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label</a:t>
            </a:r>
            <a:r>
              <a:rPr lang="de-CH" sz="2200" dirty="0">
                <a:solidFill>
                  <a:srgbClr val="080808"/>
                </a:solidFill>
              </a:rPr>
              <a:t>		</a:t>
            </a:r>
            <a:r>
              <a:rPr lang="de-CH" sz="2200" i="1" dirty="0">
                <a:solidFill>
                  <a:srgbClr val="080808"/>
                </a:solidFill>
              </a:rPr>
              <a:t>0 / 1</a:t>
            </a:r>
          </a:p>
          <a:p>
            <a:pPr marL="0" indent="0">
              <a:buNone/>
            </a:pPr>
            <a:endParaRPr lang="de-CH" sz="2200" i="1" dirty="0">
              <a:solidFill>
                <a:srgbClr val="080808"/>
              </a:solidFill>
            </a:endParaRPr>
          </a:p>
          <a:p>
            <a:pPr marL="0" indent="0">
              <a:buNone/>
            </a:pPr>
            <a:r>
              <a:rPr lang="de-CH" sz="2200" i="1" dirty="0">
                <a:solidFill>
                  <a:srgbClr val="080808"/>
                </a:solidFill>
              </a:rPr>
              <a:t>	</a:t>
            </a:r>
            <a:r>
              <a:rPr lang="de-CH" sz="2200" dirty="0">
                <a:solidFill>
                  <a:srgbClr val="080808"/>
                </a:solidFill>
              </a:rPr>
              <a:t>SOL1 </a:t>
            </a:r>
            <a:r>
              <a:rPr lang="de-CH" sz="2200" dirty="0" err="1">
                <a:solidFill>
                  <a:srgbClr val="080808"/>
                </a:solidFill>
              </a:rPr>
              <a:t>is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correct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if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predicted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label</a:t>
            </a:r>
            <a:r>
              <a:rPr lang="de-CH" sz="2200" dirty="0">
                <a:solidFill>
                  <a:srgbClr val="080808"/>
                </a:solidFill>
              </a:rPr>
              <a:t> = 0 </a:t>
            </a:r>
          </a:p>
          <a:p>
            <a:pPr marL="0" indent="0">
              <a:buNone/>
            </a:pPr>
            <a:r>
              <a:rPr lang="de-CH" sz="2200" dirty="0">
                <a:solidFill>
                  <a:srgbClr val="080808"/>
                </a:solidFill>
              </a:rPr>
              <a:t>	SOL2 </a:t>
            </a:r>
            <a:r>
              <a:rPr lang="de-CH" sz="2200" dirty="0" err="1">
                <a:solidFill>
                  <a:srgbClr val="080808"/>
                </a:solidFill>
              </a:rPr>
              <a:t>is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correct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if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predicted</a:t>
            </a:r>
            <a:r>
              <a:rPr lang="de-CH" sz="2200" dirty="0">
                <a:solidFill>
                  <a:srgbClr val="080808"/>
                </a:solidFill>
              </a:rPr>
              <a:t> </a:t>
            </a:r>
            <a:r>
              <a:rPr lang="de-CH" sz="2200" dirty="0" err="1">
                <a:solidFill>
                  <a:srgbClr val="080808"/>
                </a:solidFill>
              </a:rPr>
              <a:t>label</a:t>
            </a:r>
            <a:r>
              <a:rPr lang="de-CH" sz="2200" dirty="0">
                <a:solidFill>
                  <a:srgbClr val="080808"/>
                </a:solidFill>
              </a:rPr>
              <a:t> = 1	</a:t>
            </a:r>
            <a:r>
              <a:rPr lang="en-CH" sz="2200" b="1" dirty="0"/>
              <a:t>	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7E0EB5-3BFB-4BC9-3441-FEEE4C7422A8}"/>
              </a:ext>
            </a:extLst>
          </p:cNvPr>
          <p:cNvCxnSpPr/>
          <p:nvPr/>
        </p:nvCxnSpPr>
        <p:spPr>
          <a:xfrm>
            <a:off x="4814047" y="2891117"/>
            <a:ext cx="3630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067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LLM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598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PROMPTS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system prompt – assign role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user prompt – including goal, sol1 and sol2</a:t>
            </a:r>
          </a:p>
          <a:p>
            <a:pPr marL="0" indent="0">
              <a:buNone/>
            </a:pP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TOKENIZATION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2200" dirty="0">
                <a:solidFill>
                  <a:srgbClr val="067D17"/>
                </a:solidFill>
                <a:effectLst/>
              </a:rPr>
              <a:t>Qwen2.5-3B-Instruct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67D17"/>
                </a:solidFill>
              </a:rPr>
              <a:t>	</a:t>
            </a:r>
            <a:r>
              <a:rPr lang="en-GB" sz="2200" dirty="0" err="1"/>
              <a:t>apply_chat_template</a:t>
            </a:r>
            <a:r>
              <a:rPr lang="en-GB" sz="2200" dirty="0"/>
              <a:t> </a:t>
            </a:r>
            <a:endParaRPr lang="en-GB" sz="2200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input_ids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attention_mask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120E3-8265-1D9E-80BF-E203F7E1C160}"/>
              </a:ext>
            </a:extLst>
          </p:cNvPr>
          <p:cNvSpPr txBox="1"/>
          <p:nvPr/>
        </p:nvSpPr>
        <p:spPr>
          <a:xfrm>
            <a:off x="6091106" y="3763632"/>
            <a:ext cx="5257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&lt;|system|&gt; </a:t>
            </a:r>
            <a:br>
              <a:rPr lang="en-GB" sz="2000" dirty="0"/>
            </a:br>
            <a:r>
              <a:rPr lang="en-GB" sz="2000" i="1" dirty="0"/>
              <a:t>system prompt</a:t>
            </a:r>
            <a:br>
              <a:rPr lang="en-GB" sz="2000" dirty="0">
                <a:effectLst/>
              </a:rPr>
            </a:br>
            <a:r>
              <a:rPr lang="en-GB" sz="2000" b="1" dirty="0"/>
              <a:t> &lt;|user|&gt; </a:t>
            </a:r>
            <a:br>
              <a:rPr lang="en-GB" sz="2000" dirty="0"/>
            </a:br>
            <a:r>
              <a:rPr lang="en-CH" sz="2000" i="1" dirty="0"/>
              <a:t>user prompt – including goal, sol1 and sol2</a:t>
            </a:r>
            <a:br>
              <a:rPr lang="en-GB" sz="2000" dirty="0"/>
            </a:br>
            <a:r>
              <a:rPr lang="en-GB" sz="2000" b="1" dirty="0"/>
              <a:t>&lt;|assistant|&gt;</a:t>
            </a:r>
            <a:endParaRPr lang="en-CH" sz="20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6F21D1-26E4-D3E3-194C-6E4BF2315F95}"/>
              </a:ext>
            </a:extLst>
          </p:cNvPr>
          <p:cNvCxnSpPr/>
          <p:nvPr/>
        </p:nvCxnSpPr>
        <p:spPr>
          <a:xfrm>
            <a:off x="4926588" y="4579240"/>
            <a:ext cx="3630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09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Input / Output Format LLM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FA5359-C197-0343-B96C-5BBE95AA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98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OUTPUT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answer is concatenated with input		</a:t>
            </a:r>
            <a:r>
              <a:rPr lang="en-GB" sz="2200" i="1" dirty="0"/>
              <a:t>[... input tokens ..., 32, 198]</a:t>
            </a:r>
            <a:endParaRPr lang="en-CH" sz="2200" i="1" dirty="0"/>
          </a:p>
          <a:p>
            <a:pPr marL="0" indent="0">
              <a:buNone/>
            </a:pPr>
            <a:r>
              <a:rPr lang="en-CH" sz="2200" dirty="0"/>
              <a:t>	split answer to output				</a:t>
            </a:r>
            <a:r>
              <a:rPr lang="en-CH" sz="2200" i="1" dirty="0"/>
              <a:t>[32, 198]</a:t>
            </a:r>
          </a:p>
          <a:p>
            <a:pPr marL="0" indent="0">
              <a:buNone/>
            </a:pPr>
            <a:r>
              <a:rPr lang="en-CH" sz="2200" dirty="0"/>
              <a:t>	decode						</a:t>
            </a:r>
            <a:r>
              <a:rPr lang="en-GB" sz="2200" i="1" dirty="0" err="1"/>
              <a:t>tokenizer.decode</a:t>
            </a:r>
            <a:r>
              <a:rPr lang="en-GB" sz="2200" i="1" dirty="0"/>
              <a:t>([32, 198]) → "A"</a:t>
            </a:r>
            <a:endParaRPr lang="en-CH" sz="2200" i="1" dirty="0"/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parse into predicted label 			A = 0 / B = 1 / default = -1</a:t>
            </a:r>
          </a:p>
        </p:txBody>
      </p:sp>
    </p:spTree>
    <p:extLst>
      <p:ext uri="{BB962C8B-B14F-4D97-AF65-F5344CB8AC3E}">
        <p14:creationId xmlns:p14="http://schemas.microsoft.com/office/powerpoint/2010/main" val="231364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51724D9-E648-F2D9-3F0A-C645C692A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8817" y="-96028"/>
            <a:ext cx="8265583" cy="70500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CD6375-9358-E18F-EB23-8F38BDA1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3663462" cy="2575023"/>
          </a:xfrm>
        </p:spPr>
        <p:txBody>
          <a:bodyPr/>
          <a:lstStyle/>
          <a:p>
            <a:r>
              <a:rPr lang="en-CH" dirty="0"/>
              <a:t>Network </a:t>
            </a:r>
            <a:br>
              <a:rPr lang="en-CH" dirty="0"/>
            </a:br>
            <a:r>
              <a:rPr lang="en-CH" dirty="0"/>
              <a:t>Architecture</a:t>
            </a:r>
            <a:br>
              <a:rPr lang="en-CH" dirty="0"/>
            </a:br>
            <a:r>
              <a:rPr lang="en-CH" dirty="0"/>
              <a:t>Transformers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82D56-0ED0-6B0E-8FC8-635117B2C041}"/>
              </a:ext>
            </a:extLst>
          </p:cNvPr>
          <p:cNvSpPr txBox="1"/>
          <p:nvPr/>
        </p:nvSpPr>
        <p:spPr>
          <a:xfrm>
            <a:off x="0" y="6488668"/>
            <a:ext cx="3560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i="1" dirty="0"/>
              <a:t>Visualisation generated by Claude</a:t>
            </a:r>
          </a:p>
        </p:txBody>
      </p:sp>
    </p:spTree>
    <p:extLst>
      <p:ext uri="{BB962C8B-B14F-4D97-AF65-F5344CB8AC3E}">
        <p14:creationId xmlns:p14="http://schemas.microsoft.com/office/powerpoint/2010/main" val="147272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E692-B047-526E-F9BD-199D47416CF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Network Architecture LLM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D59EFB-2976-D8CA-92FD-AC2BDB4D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598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“ARCHITECTURE”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2200" dirty="0">
                <a:solidFill>
                  <a:srgbClr val="067D17"/>
                </a:solidFill>
                <a:effectLst/>
              </a:rPr>
              <a:t>Qwen2.5-3B-Instruct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67D17"/>
                </a:solidFill>
              </a:rPr>
              <a:t>	</a:t>
            </a:r>
            <a:r>
              <a:rPr lang="en-GB" sz="2200" dirty="0"/>
              <a:t>3B parameters</a:t>
            </a:r>
            <a:r>
              <a:rPr lang="en-GB" sz="2200" b="1" dirty="0">
                <a:solidFill>
                  <a:srgbClr val="080808"/>
                </a:solidFill>
                <a:effectLst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8701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Experiments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D585BA-7A05-3F4B-4CCD-0489470A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98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PRETRAINED TRANSFORMER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add </a:t>
            </a:r>
            <a:r>
              <a:rPr lang="en-GB" sz="2200" b="1" dirty="0" err="1"/>
              <a:t>OneCycleLR</a:t>
            </a:r>
            <a:r>
              <a:rPr lang="en-GB" sz="2200" b="1" dirty="0"/>
              <a:t> </a:t>
            </a:r>
            <a:r>
              <a:rPr lang="en-GB" sz="2200" dirty="0"/>
              <a:t>scheduler after low regularization</a:t>
            </a:r>
            <a:endParaRPr lang="en-CH" sz="2200" b="1" dirty="0"/>
          </a:p>
          <a:p>
            <a:pPr marL="0" indent="0">
              <a:buNone/>
            </a:pP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LLM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switched from </a:t>
            </a:r>
            <a:r>
              <a:rPr lang="en-GB" sz="2200" dirty="0">
                <a:solidFill>
                  <a:srgbClr val="067D17"/>
                </a:solidFill>
                <a:effectLst/>
              </a:rPr>
              <a:t>Qwen2.5-</a:t>
            </a:r>
            <a:r>
              <a:rPr lang="en-GB" sz="2200" b="1" dirty="0">
                <a:solidFill>
                  <a:srgbClr val="067D17"/>
                </a:solidFill>
                <a:effectLst/>
              </a:rPr>
              <a:t>1.5B</a:t>
            </a:r>
            <a:r>
              <a:rPr lang="en-GB" sz="2200" dirty="0">
                <a:solidFill>
                  <a:srgbClr val="067D17"/>
                </a:solidFill>
                <a:effectLst/>
              </a:rPr>
              <a:t>-Instruct </a:t>
            </a:r>
            <a:r>
              <a:rPr lang="en-GB" sz="2200" dirty="0">
                <a:effectLst/>
              </a:rPr>
              <a:t>to </a:t>
            </a:r>
            <a:r>
              <a:rPr lang="en-GB" sz="2200" dirty="0">
                <a:solidFill>
                  <a:srgbClr val="067D17"/>
                </a:solidFill>
                <a:effectLst/>
              </a:rPr>
              <a:t>Qwen2.5-</a:t>
            </a:r>
            <a:r>
              <a:rPr lang="en-GB" sz="2200" b="1" dirty="0">
                <a:solidFill>
                  <a:srgbClr val="067D17"/>
                </a:solidFill>
                <a:effectLst/>
              </a:rPr>
              <a:t>3B</a:t>
            </a:r>
            <a:r>
              <a:rPr lang="en-GB" sz="2200" dirty="0">
                <a:solidFill>
                  <a:srgbClr val="067D17"/>
                </a:solidFill>
                <a:effectLst/>
              </a:rPr>
              <a:t>-Instruct</a:t>
            </a: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CH" sz="2200" dirty="0"/>
              <a:t>try second prompt with specific role assignment</a:t>
            </a:r>
            <a:endParaRPr lang="en-CH" sz="2200" b="1" dirty="0"/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de-CH" sz="2200" dirty="0" err="1"/>
              <a:t>answer</a:t>
            </a:r>
            <a:r>
              <a:rPr lang="de-CH" sz="2200" dirty="0"/>
              <a:t> </a:t>
            </a:r>
            <a:r>
              <a:rPr lang="de-CH" sz="2200" dirty="0" err="1"/>
              <a:t>with</a:t>
            </a:r>
            <a:r>
              <a:rPr lang="de-CH" sz="2200" dirty="0"/>
              <a:t> «A» and «B» </a:t>
            </a:r>
            <a:r>
              <a:rPr lang="de-CH" sz="2200" dirty="0" err="1"/>
              <a:t>instead</a:t>
            </a:r>
            <a:r>
              <a:rPr lang="de-CH" sz="2200" dirty="0"/>
              <a:t> </a:t>
            </a:r>
            <a:r>
              <a:rPr lang="de-CH" sz="2200" dirty="0" err="1"/>
              <a:t>of</a:t>
            </a:r>
            <a:r>
              <a:rPr lang="de-CH" sz="2200" dirty="0"/>
              <a:t> «0» and «1» </a:t>
            </a:r>
            <a:r>
              <a:rPr lang="de-CH" sz="2200" dirty="0" err="1"/>
              <a:t>improved</a:t>
            </a:r>
            <a:r>
              <a:rPr lang="de-CH" sz="2200" dirty="0"/>
              <a:t> </a:t>
            </a:r>
            <a:r>
              <a:rPr lang="de-CH" sz="2200" dirty="0" err="1"/>
              <a:t>performance</a:t>
            </a:r>
            <a:endParaRPr lang="en-CH" sz="2200" dirty="0"/>
          </a:p>
        </p:txBody>
      </p:sp>
    </p:spTree>
    <p:extLst>
      <p:ext uri="{BB962C8B-B14F-4D97-AF65-F5344CB8AC3E}">
        <p14:creationId xmlns:p14="http://schemas.microsoft.com/office/powerpoint/2010/main" val="297624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ED4360-A5C2-82D2-160F-48D286277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794237"/>
              </p:ext>
            </p:extLst>
          </p:nvPr>
        </p:nvGraphicFramePr>
        <p:xfrm>
          <a:off x="838200" y="1768475"/>
          <a:ext cx="10515600" cy="3718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96175">
                  <a:extLst>
                    <a:ext uri="{9D8B030D-6E8A-4147-A177-3AD203B41FA5}">
                      <a16:colId xmlns:a16="http://schemas.microsoft.com/office/drawing/2014/main" val="953994096"/>
                    </a:ext>
                  </a:extLst>
                </a:gridCol>
                <a:gridCol w="2307102">
                  <a:extLst>
                    <a:ext uri="{9D8B030D-6E8A-4147-A177-3AD203B41FA5}">
                      <a16:colId xmlns:a16="http://schemas.microsoft.com/office/drawing/2014/main" val="2341483827"/>
                    </a:ext>
                  </a:extLst>
                </a:gridCol>
                <a:gridCol w="2489981">
                  <a:extLst>
                    <a:ext uri="{9D8B030D-6E8A-4147-A177-3AD203B41FA5}">
                      <a16:colId xmlns:a16="http://schemas.microsoft.com/office/drawing/2014/main" val="2574548658"/>
                    </a:ext>
                  </a:extLst>
                </a:gridCol>
                <a:gridCol w="2322342">
                  <a:extLst>
                    <a:ext uri="{9D8B030D-6E8A-4147-A177-3AD203B41FA5}">
                      <a16:colId xmlns:a16="http://schemas.microsoft.com/office/drawing/2014/main" val="1423803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sz="2200" dirty="0"/>
                        <a:t>MODEL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200" dirty="0"/>
                        <a:t>TRAINING SET ACCURACY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200" dirty="0"/>
                        <a:t>VALIDATION SET ACCURACY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2200" dirty="0"/>
                        <a:t>TEST SET ACCURACY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678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2200" dirty="0"/>
                        <a:t>Random Initialized BERT</a:t>
                      </a:r>
                    </a:p>
                    <a:p>
                      <a:endParaRPr lang="en-CH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0.504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0.517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0.496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307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2200" dirty="0"/>
                        <a:t>Pretrained BERT </a:t>
                      </a:r>
                    </a:p>
                    <a:p>
                      <a:r>
                        <a:rPr lang="en-CH" sz="2200" dirty="0"/>
                        <a:t>(bert-base-uncased)</a:t>
                      </a:r>
                    </a:p>
                    <a:p>
                      <a:endParaRPr lang="en-CH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0.956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0.668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0.656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338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2200" dirty="0"/>
                        <a:t>LLM </a:t>
                      </a:r>
                    </a:p>
                    <a:p>
                      <a:r>
                        <a:rPr lang="en-GB" sz="2200" dirty="0">
                          <a:solidFill>
                            <a:srgbClr val="080808"/>
                          </a:solidFill>
                          <a:effectLst/>
                        </a:rPr>
                        <a:t>(Qwen2.5-3B-Instruct)</a:t>
                      </a:r>
                    </a:p>
                    <a:p>
                      <a:endParaRPr lang="en-CH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-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-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CH" sz="2200" dirty="0"/>
                    </a:p>
                    <a:p>
                      <a:pPr algn="r"/>
                      <a:r>
                        <a:rPr lang="en-CH" sz="2200" dirty="0"/>
                        <a:t>0.753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007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130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Interpretation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A9EC71-1EC7-B9B8-B255-12AF27D8E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985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RANDOM INITIALIZED TRANSFORMER</a:t>
            </a:r>
          </a:p>
          <a:p>
            <a:pPr marL="0" indent="0">
              <a:buNone/>
            </a:pPr>
            <a:r>
              <a:rPr lang="en-CH" sz="2200" dirty="0"/>
              <a:t>	always predicts sol1</a:t>
            </a:r>
          </a:p>
          <a:p>
            <a:pPr marL="0" indent="0">
              <a:buNone/>
            </a:pPr>
            <a:r>
              <a:rPr lang="en-CH" sz="2200" dirty="0"/>
              <a:t>	never learned anything</a:t>
            </a:r>
          </a:p>
          <a:p>
            <a:pPr marL="0" indent="0">
              <a:buNone/>
            </a:pPr>
            <a:r>
              <a:rPr lang="en-CH" sz="2200" dirty="0"/>
              <a:t>	are 110B params too much to learn anything for about 15’000 data records?</a:t>
            </a:r>
          </a:p>
          <a:p>
            <a:pPr marL="0" indent="0">
              <a:buNone/>
            </a:pPr>
            <a:endParaRPr lang="en-CH" sz="2200" dirty="0"/>
          </a:p>
          <a:p>
            <a:pPr marL="0" indent="0">
              <a:buNone/>
            </a:pPr>
            <a:r>
              <a:rPr lang="en-CH" sz="2200" b="1" dirty="0"/>
              <a:t>PRETRAINED TRANSFORMER</a:t>
            </a:r>
          </a:p>
          <a:p>
            <a:pPr marL="0" indent="0">
              <a:buNone/>
            </a:pPr>
            <a:r>
              <a:rPr lang="en-CH" sz="2200" dirty="0"/>
              <a:t>	meaningful predictions </a:t>
            </a:r>
          </a:p>
          <a:p>
            <a:pPr marL="0" indent="0">
              <a:buNone/>
            </a:pPr>
            <a:r>
              <a:rPr lang="en-CH" sz="2200" dirty="0"/>
              <a:t>	bad regularization </a:t>
            </a:r>
            <a:r>
              <a:rPr lang="en-CH" sz="2200" b="1" dirty="0"/>
              <a:t>	</a:t>
            </a:r>
          </a:p>
          <a:p>
            <a:pPr marL="0" indent="0">
              <a:buNone/>
            </a:pPr>
            <a:r>
              <a:rPr lang="en-CH" sz="2200" b="1" dirty="0"/>
              <a:t>	</a:t>
            </a:r>
            <a:r>
              <a:rPr lang="en-GB" sz="2200" dirty="0" err="1"/>
              <a:t>OneCycleLR</a:t>
            </a:r>
            <a:r>
              <a:rPr lang="en-GB" sz="2200" b="1" dirty="0"/>
              <a:t> </a:t>
            </a:r>
            <a:r>
              <a:rPr lang="en-GB" sz="2200" dirty="0"/>
              <a:t>scheduler improved test set acc. by 0.056 </a:t>
            </a:r>
          </a:p>
          <a:p>
            <a:pPr marL="0" indent="0">
              <a:buNone/>
            </a:pPr>
            <a:r>
              <a:rPr lang="en-GB" sz="2200" dirty="0"/>
              <a:t>	(pretrained weights are not destroyed)</a:t>
            </a:r>
            <a:endParaRPr lang="en-CH" sz="2200" b="1" dirty="0"/>
          </a:p>
        </p:txBody>
      </p:sp>
    </p:spTree>
    <p:extLst>
      <p:ext uri="{BB962C8B-B14F-4D97-AF65-F5344CB8AC3E}">
        <p14:creationId xmlns:p14="http://schemas.microsoft.com/office/powerpoint/2010/main" val="1306507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73E8-A468-A30B-7B45-E2E00861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Interpretation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A9EC71-1EC7-B9B8-B255-12AF27D8E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985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200" b="1" dirty="0"/>
              <a:t>LLM</a:t>
            </a:r>
          </a:p>
          <a:p>
            <a:pPr marL="0" indent="0">
              <a:buNone/>
            </a:pPr>
            <a:r>
              <a:rPr lang="en-CH" sz="2200" dirty="0"/>
              <a:t>	solid predictions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67D17"/>
                </a:solidFill>
                <a:effectLst/>
              </a:rPr>
              <a:t>	Qwen2.5-</a:t>
            </a:r>
            <a:r>
              <a:rPr lang="en-GB" sz="2200" b="1" dirty="0">
                <a:solidFill>
                  <a:srgbClr val="067D17"/>
                </a:solidFill>
                <a:effectLst/>
              </a:rPr>
              <a:t>3B</a:t>
            </a:r>
            <a:r>
              <a:rPr lang="en-GB" sz="2200" dirty="0">
                <a:solidFill>
                  <a:srgbClr val="067D17"/>
                </a:solidFill>
                <a:effectLst/>
              </a:rPr>
              <a:t>-Instruct </a:t>
            </a:r>
            <a:r>
              <a:rPr lang="en-GB" sz="2200" dirty="0">
                <a:effectLst/>
              </a:rPr>
              <a:t>outperformed</a:t>
            </a:r>
            <a:r>
              <a:rPr lang="en-GB" sz="2200" dirty="0">
                <a:solidFill>
                  <a:srgbClr val="067D17"/>
                </a:solidFill>
                <a:effectLst/>
              </a:rPr>
              <a:t> Qwen2.5-</a:t>
            </a:r>
            <a:r>
              <a:rPr lang="en-GB" sz="2200" b="1" dirty="0">
                <a:solidFill>
                  <a:srgbClr val="067D17"/>
                </a:solidFill>
                <a:effectLst/>
              </a:rPr>
              <a:t>1.5B</a:t>
            </a:r>
            <a:r>
              <a:rPr lang="en-GB" sz="2200" dirty="0">
                <a:solidFill>
                  <a:srgbClr val="067D17"/>
                </a:solidFill>
                <a:effectLst/>
              </a:rPr>
              <a:t>-Instruct </a:t>
            </a:r>
          </a:p>
          <a:p>
            <a:pPr marL="0" indent="0">
              <a:buNone/>
            </a:pPr>
            <a:r>
              <a:rPr lang="en-GB" sz="2200" dirty="0">
                <a:effectLst/>
              </a:rPr>
              <a:t>	(by 0.143 on the same prompt)</a:t>
            </a:r>
            <a:endParaRPr lang="en-CH" sz="2200" dirty="0"/>
          </a:p>
          <a:p>
            <a:pPr marL="0" indent="0">
              <a:buNone/>
            </a:pPr>
            <a:endParaRPr lang="en-CH" sz="2200" dirty="0"/>
          </a:p>
          <a:p>
            <a:pPr marL="0" indent="0">
              <a:buNone/>
            </a:pPr>
            <a:r>
              <a:rPr lang="en-CH" sz="2200" b="1" dirty="0"/>
              <a:t>KEY TAKEAWAY</a:t>
            </a:r>
          </a:p>
          <a:p>
            <a:pPr marL="0" indent="0">
              <a:buNone/>
            </a:pPr>
            <a:r>
              <a:rPr lang="en-CH" sz="2200" dirty="0"/>
              <a:t>	models fail on </a:t>
            </a:r>
            <a:r>
              <a:rPr lang="de-CH" sz="2200" dirty="0" err="1"/>
              <a:t>near</a:t>
            </a:r>
            <a:r>
              <a:rPr lang="de-CH" sz="2200" dirty="0"/>
              <a:t> </a:t>
            </a:r>
            <a:r>
              <a:rPr lang="de-CH" sz="2200" dirty="0" err="1"/>
              <a:t>identical</a:t>
            </a:r>
            <a:r>
              <a:rPr lang="de-CH" sz="2200" dirty="0"/>
              <a:t> </a:t>
            </a:r>
            <a:r>
              <a:rPr lang="de-CH" sz="2200" dirty="0" err="1"/>
              <a:t>solutions</a:t>
            </a:r>
            <a:endParaRPr lang="de-CH" sz="2200" dirty="0"/>
          </a:p>
          <a:p>
            <a:pPr marL="0" indent="0">
              <a:buNone/>
            </a:pPr>
            <a:r>
              <a:rPr lang="de-CH" sz="2200" b="1" dirty="0"/>
              <a:t>	</a:t>
            </a:r>
            <a:r>
              <a:rPr lang="de-CH" sz="2200" dirty="0" err="1"/>
              <a:t>physical</a:t>
            </a:r>
            <a:r>
              <a:rPr lang="de-CH" sz="2200" dirty="0"/>
              <a:t> </a:t>
            </a:r>
            <a:r>
              <a:rPr lang="de-CH" sz="2200" dirty="0" err="1"/>
              <a:t>commonsense</a:t>
            </a:r>
            <a:r>
              <a:rPr lang="de-CH" sz="2200" dirty="0"/>
              <a:t> </a:t>
            </a:r>
            <a:r>
              <a:rPr lang="de-CH" sz="2200" dirty="0" err="1"/>
              <a:t>world</a:t>
            </a:r>
            <a:r>
              <a:rPr lang="de-CH" sz="2200" dirty="0"/>
              <a:t> </a:t>
            </a:r>
            <a:r>
              <a:rPr lang="de-CH" sz="2200" dirty="0" err="1"/>
              <a:t>knowledge</a:t>
            </a:r>
            <a:r>
              <a:rPr lang="de-CH" sz="2200" dirty="0"/>
              <a:t> in </a:t>
            </a:r>
            <a:r>
              <a:rPr lang="de-CH" sz="2200" dirty="0" err="1"/>
              <a:t>training</a:t>
            </a:r>
            <a:r>
              <a:rPr lang="de-CH" sz="2200" dirty="0"/>
              <a:t> </a:t>
            </a:r>
            <a:r>
              <a:rPr lang="de-CH" sz="2200" dirty="0" err="1"/>
              <a:t>data</a:t>
            </a:r>
            <a:r>
              <a:rPr lang="de-CH" sz="2200" dirty="0"/>
              <a:t> </a:t>
            </a:r>
            <a:r>
              <a:rPr lang="de-CH" sz="2200" dirty="0" err="1"/>
              <a:t>of</a:t>
            </a:r>
            <a:r>
              <a:rPr lang="de-CH" sz="2200" dirty="0"/>
              <a:t> LLM </a:t>
            </a:r>
            <a:r>
              <a:rPr lang="de-CH" sz="2200" dirty="0" err="1"/>
              <a:t>outperforms</a:t>
            </a:r>
            <a:r>
              <a:rPr lang="de-CH" sz="2200" dirty="0"/>
              <a:t> 	</a:t>
            </a:r>
            <a:r>
              <a:rPr lang="de-CH" sz="2200" dirty="0" err="1"/>
              <a:t>task</a:t>
            </a:r>
            <a:r>
              <a:rPr lang="de-CH" sz="2200" dirty="0"/>
              <a:t> </a:t>
            </a:r>
            <a:r>
              <a:rPr lang="de-CH" sz="2200" dirty="0" err="1"/>
              <a:t>specific</a:t>
            </a:r>
            <a:r>
              <a:rPr lang="de-CH" sz="2200" dirty="0"/>
              <a:t> </a:t>
            </a:r>
            <a:r>
              <a:rPr lang="de-CH" sz="2200" dirty="0" err="1"/>
              <a:t>fine</a:t>
            </a:r>
            <a:r>
              <a:rPr lang="de-CH" sz="2200" dirty="0"/>
              <a:t> </a:t>
            </a:r>
            <a:r>
              <a:rPr lang="de-CH" sz="2200" dirty="0" err="1"/>
              <a:t>tuning</a:t>
            </a:r>
            <a:endParaRPr lang="en-CH" sz="2200" b="1" dirty="0"/>
          </a:p>
        </p:txBody>
      </p:sp>
    </p:spTree>
    <p:extLst>
      <p:ext uri="{BB962C8B-B14F-4D97-AF65-F5344CB8AC3E}">
        <p14:creationId xmlns:p14="http://schemas.microsoft.com/office/powerpoint/2010/main" val="427897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0561-C0D8-DFF0-0E68-D958DD557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354" y="2235200"/>
            <a:ext cx="9144000" cy="2387600"/>
          </a:xfrm>
        </p:spPr>
        <p:txBody>
          <a:bodyPr/>
          <a:lstStyle/>
          <a:p>
            <a:pPr algn="l"/>
            <a:r>
              <a:rPr lang="en-CH" b="1" dirty="0"/>
              <a:t>Thank You </a:t>
            </a:r>
            <a:r>
              <a:rPr lang="en-CH" dirty="0"/>
              <a:t>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424250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0561-C0D8-DFF0-0E68-D958DD557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354" y="2235200"/>
            <a:ext cx="9144000" cy="2387600"/>
          </a:xfrm>
        </p:spPr>
        <p:txBody>
          <a:bodyPr/>
          <a:lstStyle/>
          <a:p>
            <a:pPr algn="l"/>
            <a:r>
              <a:rPr lang="en-CH" dirty="0"/>
              <a:t>Are There Any </a:t>
            </a:r>
            <a:r>
              <a:rPr lang="en-CH" b="1" dirty="0"/>
              <a:t>Questions</a:t>
            </a:r>
            <a:r>
              <a:rPr lang="en-C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764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669</Words>
  <Application>Microsoft Macintosh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Transformers</vt:lpstr>
      <vt:lpstr>Preprocessing</vt:lpstr>
      <vt:lpstr>Input / Output Format Transformers</vt:lpstr>
      <vt:lpstr>Input / Output Format Transformers</vt:lpstr>
      <vt:lpstr>Input / Output Format Transformers</vt:lpstr>
      <vt:lpstr>Input / Output Format Transformers</vt:lpstr>
      <vt:lpstr>Input / Output Format LLM</vt:lpstr>
      <vt:lpstr>Input / Output Format LLM</vt:lpstr>
      <vt:lpstr>Network  Architecture Transformers</vt:lpstr>
      <vt:lpstr>PowerPoint Presentation</vt:lpstr>
      <vt:lpstr>Experiments</vt:lpstr>
      <vt:lpstr>Results</vt:lpstr>
      <vt:lpstr>Interpretation</vt:lpstr>
      <vt:lpstr>Interpretation</vt:lpstr>
      <vt:lpstr>Thank You For Your Attention!</vt:lpstr>
      <vt:lpstr>Are There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Vogel Sacha I.BSCAIML.2301</dc:creator>
  <cp:lastModifiedBy>Vogel Sacha I.BSCAIML.2301</cp:lastModifiedBy>
  <cp:revision>13</cp:revision>
  <dcterms:created xsi:type="dcterms:W3CDTF">2026-05-26T20:16:37Z</dcterms:created>
  <dcterms:modified xsi:type="dcterms:W3CDTF">2026-05-26T22:48:19Z</dcterms:modified>
</cp:coreProperties>
</file>