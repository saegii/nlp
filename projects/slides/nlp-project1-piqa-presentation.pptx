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70" r:id="rId2"/>
    <p:sldId id="262" r:id="rId3"/>
    <p:sldId id="283" r:id="rId4"/>
    <p:sldId id="289" r:id="rId5"/>
    <p:sldId id="291" r:id="rId6"/>
    <p:sldId id="292" r:id="rId7"/>
    <p:sldId id="293" r:id="rId8"/>
    <p:sldId id="296" r:id="rId9"/>
    <p:sldId id="297" r:id="rId10"/>
    <p:sldId id="298" r:id="rId11"/>
    <p:sldId id="299" r:id="rId12"/>
    <p:sldId id="300" r:id="rId13"/>
    <p:sldId id="301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 panose="02000503000000020004" pitchFamily="2" charset="0"/>
      <p:regular r:id="rId20"/>
      <p:bold r:id="rId21"/>
      <p:italic r:id="rId22"/>
      <p:boldItalic r:id="rId23"/>
    </p:embeddedFont>
    <p:embeddedFont>
      <p:font typeface="Inter Thin" panose="02000503000000020004" pitchFamily="2" charset="0"/>
      <p:regular r:id="rId24"/>
      <p:bold r:id="rId25"/>
      <p:italic r:id="rId26"/>
      <p:boldItalic r:id="rId27"/>
    </p:embeddedFont>
    <p:embeddedFont>
      <p:font typeface="Lora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916837-6587-4D0C-93F5-A9B43CBFF435}">
  <a:tblStyle styleId="{A9916837-6587-4D0C-93F5-A9B43CBFF4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8"/>
    <p:restoredTop sz="94719"/>
  </p:normalViewPr>
  <p:slideViewPr>
    <p:cSldViewPr snapToGrid="0">
      <p:cViewPr varScale="1">
        <p:scale>
          <a:sx n="101" d="100"/>
          <a:sy n="101" d="100"/>
        </p:scale>
        <p:origin x="84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090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94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072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105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779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2554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9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2224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466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48625" y="7448325"/>
            <a:ext cx="86175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7000"/>
              <a:buFont typeface="Lora"/>
              <a:buNone/>
              <a:defRPr sz="70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1069525" y="7448325"/>
            <a:ext cx="65286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2"/>
          </p:nvPr>
        </p:nvSpPr>
        <p:spPr>
          <a:xfrm>
            <a:off x="-13425" y="416450"/>
            <a:ext cx="7062900" cy="64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>
            <a:spLocks noGrp="1"/>
          </p:cNvSpPr>
          <p:nvPr>
            <p:ph type="pic" idx="3"/>
          </p:nvPr>
        </p:nvSpPr>
        <p:spPr>
          <a:xfrm>
            <a:off x="7341625" y="416450"/>
            <a:ext cx="3727800" cy="64182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3"/>
          <p:cNvSpPr>
            <a:spLocks noGrp="1"/>
          </p:cNvSpPr>
          <p:nvPr>
            <p:ph type="pic" idx="4"/>
          </p:nvPr>
        </p:nvSpPr>
        <p:spPr>
          <a:xfrm>
            <a:off x="11361575" y="416450"/>
            <a:ext cx="6926400" cy="641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074B04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>
            <a:spLocks noGrp="1"/>
          </p:cNvSpPr>
          <p:nvPr>
            <p:ph type="pic" idx="2"/>
          </p:nvPr>
        </p:nvSpPr>
        <p:spPr>
          <a:xfrm>
            <a:off x="500425" y="477150"/>
            <a:ext cx="6659700" cy="93327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835325" y="477150"/>
            <a:ext cx="98133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7000"/>
              <a:buFont typeface="Lora"/>
              <a:buNone/>
              <a:defRPr sz="7000" i="0" u="none" strike="noStrike" cap="none">
                <a:solidFill>
                  <a:srgbClr val="F4F3EE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835325" y="4788400"/>
            <a:ext cx="97428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5"/>
          <p:cNvGrpSpPr/>
          <p:nvPr/>
        </p:nvGrpSpPr>
        <p:grpSpPr>
          <a:xfrm>
            <a:off x="7228700" y="1035176"/>
            <a:ext cx="5158848" cy="2537852"/>
            <a:chOff x="-3" y="-5"/>
            <a:chExt cx="1358700" cy="668401"/>
          </a:xfrm>
        </p:grpSpPr>
        <p:sp>
          <p:nvSpPr>
            <p:cNvPr id="27" name="Google Shape;27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5"/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5"/>
          <p:cNvGrpSpPr/>
          <p:nvPr/>
        </p:nvGrpSpPr>
        <p:grpSpPr>
          <a:xfrm>
            <a:off x="12723825" y="3874576"/>
            <a:ext cx="5158848" cy="2537850"/>
            <a:chOff x="0" y="-5"/>
            <a:chExt cx="1358700" cy="668401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5"/>
          <p:cNvGrpSpPr/>
          <p:nvPr/>
        </p:nvGrpSpPr>
        <p:grpSpPr>
          <a:xfrm>
            <a:off x="7228700" y="6720475"/>
            <a:ext cx="5158848" cy="2537848"/>
            <a:chOff x="-3" y="-3"/>
            <a:chExt cx="1358700" cy="668400"/>
          </a:xfrm>
        </p:grpSpPr>
        <p:sp>
          <p:nvSpPr>
            <p:cNvPr id="33" name="Google Shape;33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48625" y="6947500"/>
            <a:ext cx="51261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7000"/>
              <a:buFont typeface="Lora"/>
              <a:buNone/>
              <a:defRPr sz="70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7764800" y="1433300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7764800" y="7115825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3"/>
          </p:nvPr>
        </p:nvSpPr>
        <p:spPr>
          <a:xfrm>
            <a:off x="13222725" y="4226238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>
            <a:spLocks noGrp="1"/>
          </p:cNvSpPr>
          <p:nvPr>
            <p:ph type="pic" idx="4"/>
          </p:nvPr>
        </p:nvSpPr>
        <p:spPr>
          <a:xfrm>
            <a:off x="12756525" y="1035175"/>
            <a:ext cx="5126100" cy="253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>
            <a:spLocks noGrp="1"/>
          </p:cNvSpPr>
          <p:nvPr>
            <p:ph type="pic" idx="5"/>
          </p:nvPr>
        </p:nvSpPr>
        <p:spPr>
          <a:xfrm>
            <a:off x="7245075" y="3874500"/>
            <a:ext cx="5126100" cy="253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5"/>
          <p:cNvSpPr>
            <a:spLocks noGrp="1"/>
          </p:cNvSpPr>
          <p:nvPr>
            <p:ph type="pic" idx="6"/>
          </p:nvPr>
        </p:nvSpPr>
        <p:spPr>
          <a:xfrm>
            <a:off x="12756525" y="6764075"/>
            <a:ext cx="5126100" cy="253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>
            <a:spLocks noGrp="1"/>
          </p:cNvSpPr>
          <p:nvPr>
            <p:ph type="pic" idx="2"/>
          </p:nvPr>
        </p:nvSpPr>
        <p:spPr>
          <a:xfrm>
            <a:off x="420075" y="416450"/>
            <a:ext cx="8017200" cy="6024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6"/>
          <p:cNvSpPr>
            <a:spLocks noGrp="1"/>
          </p:cNvSpPr>
          <p:nvPr>
            <p:ph type="pic" idx="3"/>
          </p:nvPr>
        </p:nvSpPr>
        <p:spPr>
          <a:xfrm>
            <a:off x="9242125" y="416450"/>
            <a:ext cx="8017200" cy="60243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419975" y="6733975"/>
            <a:ext cx="80172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SzPts val="5000"/>
              <a:buFont typeface="Lora"/>
              <a:buNone/>
              <a:defRPr sz="5000" i="0" u="none" strike="noStrike" cap="none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420075" y="7882325"/>
            <a:ext cx="8017200" cy="1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 idx="4"/>
          </p:nvPr>
        </p:nvSpPr>
        <p:spPr>
          <a:xfrm>
            <a:off x="9242075" y="6733975"/>
            <a:ext cx="80172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SzPts val="5000"/>
              <a:buFont typeface="Lora"/>
              <a:buNone/>
              <a:defRPr sz="5000" i="0" u="none" strike="noStrike" cap="none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5"/>
          </p:nvPr>
        </p:nvSpPr>
        <p:spPr>
          <a:xfrm>
            <a:off x="9242175" y="7882325"/>
            <a:ext cx="8017200" cy="1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4400"/>
              <a:buFont typeface="Lora"/>
              <a:buNone/>
              <a:defRPr sz="44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806-6E4C-3D70-6C93-F5161E05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24" y="3989550"/>
            <a:ext cx="11251275" cy="2307900"/>
          </a:xfrm>
        </p:spPr>
        <p:txBody>
          <a:bodyPr/>
          <a:lstStyle/>
          <a:p>
            <a:r>
              <a:rPr lang="en-GB" dirty="0"/>
              <a:t>Word Embeddings &amp; RNN 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2DED-D57F-8EA5-EC62-73BC135DD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024" y="5289325"/>
            <a:ext cx="8965276" cy="2307900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r>
              <a:rPr lang="en-GB" sz="3000" dirty="0">
                <a:latin typeface="Lora" pitchFamily="2" charset="77"/>
              </a:rPr>
              <a:t>Physical </a:t>
            </a:r>
            <a:r>
              <a:rPr lang="en-GB" sz="3000" dirty="0" err="1">
                <a:latin typeface="Lora" pitchFamily="2" charset="77"/>
              </a:rPr>
              <a:t>Commonsense</a:t>
            </a:r>
            <a:r>
              <a:rPr lang="en-GB" sz="3000" dirty="0">
                <a:latin typeface="Lora" pitchFamily="2" charset="77"/>
              </a:rPr>
              <a:t> Reasoning on PIQA</a:t>
            </a:r>
          </a:p>
          <a:p>
            <a:pPr marL="101600" indent="0">
              <a:buNone/>
            </a:pPr>
            <a:r>
              <a:rPr lang="en-GB" sz="3000" dirty="0">
                <a:latin typeface="Lora" pitchFamily="2" charset="77"/>
              </a:rPr>
              <a:t>NLP – Sacha Vogel</a:t>
            </a:r>
          </a:p>
        </p:txBody>
      </p:sp>
    </p:spTree>
    <p:extLst>
      <p:ext uri="{BB962C8B-B14F-4D97-AF65-F5344CB8AC3E}">
        <p14:creationId xmlns:p14="http://schemas.microsoft.com/office/powerpoint/2010/main" val="276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9"/>
          <p:cNvGrpSpPr/>
          <p:nvPr/>
        </p:nvGrpSpPr>
        <p:grpSpPr>
          <a:xfrm>
            <a:off x="415472" y="2362967"/>
            <a:ext cx="645766" cy="655402"/>
            <a:chOff x="0" y="0"/>
            <a:chExt cx="812800" cy="824929"/>
          </a:xfrm>
        </p:grpSpPr>
        <p:sp>
          <p:nvSpPr>
            <p:cNvPr id="199" name="Google Shape;199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9621572" y="2362967"/>
            <a:ext cx="645766" cy="655402"/>
            <a:chOff x="0" y="0"/>
            <a:chExt cx="812800" cy="824929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415472" y="4288232"/>
            <a:ext cx="645766" cy="655402"/>
            <a:chOff x="0" y="0"/>
            <a:chExt cx="812800" cy="824929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grpSp>
        <p:nvGrpSpPr>
          <p:cNvPr id="207" name="Google Shape;207;p19"/>
          <p:cNvGrpSpPr/>
          <p:nvPr/>
        </p:nvGrpSpPr>
        <p:grpSpPr>
          <a:xfrm>
            <a:off x="9621572" y="4288232"/>
            <a:ext cx="645766" cy="655402"/>
            <a:chOff x="0" y="0"/>
            <a:chExt cx="812800" cy="824929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/>
            </a:p>
          </p:txBody>
        </p:sp>
      </p:grpSp>
      <p:cxnSp>
        <p:nvCxnSpPr>
          <p:cNvPr id="210" name="Google Shape;210;p19"/>
          <p:cNvCxnSpPr/>
          <p:nvPr/>
        </p:nvCxnSpPr>
        <p:spPr>
          <a:xfrm>
            <a:off x="415472" y="367606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19"/>
          <p:cNvCxnSpPr/>
          <p:nvPr/>
        </p:nvCxnSpPr>
        <p:spPr>
          <a:xfrm>
            <a:off x="415472" y="559673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19"/>
          <p:cNvSpPr txBox="1"/>
          <p:nvPr/>
        </p:nvSpPr>
        <p:spPr>
          <a:xfrm>
            <a:off x="415472" y="294610"/>
            <a:ext cx="6032100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Preprocessing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pSp>
        <p:nvGrpSpPr>
          <p:cNvPr id="214" name="Google Shape;214;p19"/>
          <p:cNvGrpSpPr/>
          <p:nvPr/>
        </p:nvGrpSpPr>
        <p:grpSpPr>
          <a:xfrm>
            <a:off x="1265958" y="2128018"/>
            <a:ext cx="7262419" cy="1175382"/>
            <a:chOff x="0" y="-133350"/>
            <a:chExt cx="9683225" cy="1567176"/>
          </a:xfrm>
        </p:grpSpPr>
        <p:sp>
          <p:nvSpPr>
            <p:cNvPr id="215" name="Google Shape;215;p19"/>
            <p:cNvSpPr txBox="1"/>
            <p:nvPr/>
          </p:nvSpPr>
          <p:spPr>
            <a:xfrm>
              <a:off x="0" y="802114"/>
              <a:ext cx="968322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No elements found, no cleaning necessary</a:t>
              </a:r>
              <a:endParaRPr dirty="0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-133350"/>
              <a:ext cx="9683225" cy="11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HTML Element Analysis</a:t>
              </a:r>
              <a:endParaRPr dirty="0"/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10548947" y="2128018"/>
            <a:ext cx="7323581" cy="1175382"/>
            <a:chOff x="0" y="-133350"/>
            <a:chExt cx="9764775" cy="1567176"/>
          </a:xfrm>
        </p:grpSpPr>
        <p:sp>
          <p:nvSpPr>
            <p:cNvPr id="218" name="Google Shape;218;p19"/>
            <p:cNvSpPr txBox="1"/>
            <p:nvPr/>
          </p:nvSpPr>
          <p:spPr>
            <a:xfrm>
              <a:off x="0" y="802114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NLTK tokenizer on lowercased text</a:t>
              </a:r>
              <a:endParaRPr dirty="0"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0" y="-133350"/>
              <a:ext cx="9764775" cy="11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Tokenization</a:t>
              </a:r>
              <a:endParaRPr dirty="0"/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1265958" y="4066418"/>
            <a:ext cx="7262419" cy="1162247"/>
            <a:chOff x="0" y="-133350"/>
            <a:chExt cx="9683225" cy="1549661"/>
          </a:xfrm>
        </p:grpSpPr>
        <p:sp>
          <p:nvSpPr>
            <p:cNvPr id="221" name="Google Shape;221;p19"/>
            <p:cNvSpPr txBox="1"/>
            <p:nvPr/>
          </p:nvSpPr>
          <p:spPr>
            <a:xfrm>
              <a:off x="0" y="784600"/>
              <a:ext cx="968322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Not applied because </a:t>
              </a:r>
              <a:r>
                <a:rPr lang="en-US" sz="2199" b="0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subword</a:t>
              </a: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 capability of </a:t>
              </a:r>
              <a:r>
                <a:rPr lang="en-US" sz="2199" b="0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fastText</a:t>
              </a:r>
              <a:endParaRPr dirty="0"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0" y="-133350"/>
              <a:ext cx="968322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Stemming</a:t>
              </a: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 &amp; </a:t>
              </a: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Lemmatization</a:t>
              </a:r>
              <a:endParaRPr dirty="0"/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10548947" y="4066418"/>
            <a:ext cx="7323581" cy="1162247"/>
            <a:chOff x="0" y="-133350"/>
            <a:chExt cx="9764775" cy="1549662"/>
          </a:xfrm>
        </p:grpSpPr>
        <p:sp>
          <p:nvSpPr>
            <p:cNvPr id="224" name="Google Shape;224;p19"/>
            <p:cNvSpPr txBox="1"/>
            <p:nvPr/>
          </p:nvSpPr>
          <p:spPr>
            <a:xfrm>
              <a:off x="0" y="784600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Punctuation removed – </a:t>
              </a:r>
              <a:r>
                <a:rPr lang="en-US" sz="2199" dirty="0" err="1">
                  <a:solidFill>
                    <a:srgbClr val="074B04"/>
                  </a:solidFill>
                  <a:latin typeface="Lora"/>
                  <a:sym typeface="Lora"/>
                </a:rPr>
                <a:t>Stopwords</a:t>
              </a: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 are kept </a:t>
              </a:r>
              <a:endParaRPr dirty="0"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0" y="-133350"/>
              <a:ext cx="976477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Punctuation/</a:t>
              </a:r>
              <a:r>
                <a:rPr lang="en-US" sz="3600" b="0" i="0" u="none" strike="noStrike" cap="none" dirty="0" err="1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Stopwords</a:t>
              </a: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 Removal</a:t>
              </a:r>
              <a:endParaRPr lang="en-US" sz="3600" dirty="0"/>
            </a:p>
          </p:txBody>
        </p:sp>
      </p:grpSp>
      <p:grpSp>
        <p:nvGrpSpPr>
          <p:cNvPr id="2" name="Google Shape;204;p19">
            <a:extLst>
              <a:ext uri="{FF2B5EF4-FFF2-40B4-BE49-F238E27FC236}">
                <a16:creationId xmlns:a16="http://schemas.microsoft.com/office/drawing/2014/main" id="{0D1D0F3A-D4B6-98EE-2133-C4AF382CA646}"/>
              </a:ext>
            </a:extLst>
          </p:cNvPr>
          <p:cNvGrpSpPr/>
          <p:nvPr/>
        </p:nvGrpSpPr>
        <p:grpSpPr>
          <a:xfrm>
            <a:off x="476013" y="6304322"/>
            <a:ext cx="645766" cy="655402"/>
            <a:chOff x="0" y="0"/>
            <a:chExt cx="812800" cy="824929"/>
          </a:xfrm>
        </p:grpSpPr>
        <p:sp>
          <p:nvSpPr>
            <p:cNvPr id="3" name="Google Shape;205;p19">
              <a:extLst>
                <a:ext uri="{FF2B5EF4-FFF2-40B4-BE49-F238E27FC236}">
                  <a16:creationId xmlns:a16="http://schemas.microsoft.com/office/drawing/2014/main" id="{D0FBF1CD-BB6E-BCEA-9880-E89ACAE2CD78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;p19">
              <a:extLst>
                <a:ext uri="{FF2B5EF4-FFF2-40B4-BE49-F238E27FC236}">
                  <a16:creationId xmlns:a16="http://schemas.microsoft.com/office/drawing/2014/main" id="{B3C45AC0-C6A2-ECC9-37C9-936CB6C0E437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  <p:grpSp>
        <p:nvGrpSpPr>
          <p:cNvPr id="5" name="Google Shape;207;p19">
            <a:extLst>
              <a:ext uri="{FF2B5EF4-FFF2-40B4-BE49-F238E27FC236}">
                <a16:creationId xmlns:a16="http://schemas.microsoft.com/office/drawing/2014/main" id="{A71A6E71-03AA-60B9-5D1D-B6DD5123F23E}"/>
              </a:ext>
            </a:extLst>
          </p:cNvPr>
          <p:cNvGrpSpPr/>
          <p:nvPr/>
        </p:nvGrpSpPr>
        <p:grpSpPr>
          <a:xfrm>
            <a:off x="9682113" y="6304322"/>
            <a:ext cx="645766" cy="655402"/>
            <a:chOff x="0" y="0"/>
            <a:chExt cx="812800" cy="824929"/>
          </a:xfrm>
        </p:grpSpPr>
        <p:sp>
          <p:nvSpPr>
            <p:cNvPr id="6" name="Google Shape;208;p19">
              <a:extLst>
                <a:ext uri="{FF2B5EF4-FFF2-40B4-BE49-F238E27FC236}">
                  <a16:creationId xmlns:a16="http://schemas.microsoft.com/office/drawing/2014/main" id="{C77FC550-9EFE-5362-B33D-CEE90C93F9D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9;p19">
              <a:extLst>
                <a:ext uri="{FF2B5EF4-FFF2-40B4-BE49-F238E27FC236}">
                  <a16:creationId xmlns:a16="http://schemas.microsoft.com/office/drawing/2014/main" id="{33C49A8B-4DD6-9029-20DA-1DBD079DF825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  <a:endParaRPr dirty="0"/>
            </a:p>
          </p:txBody>
        </p:sp>
      </p:grpSp>
      <p:cxnSp>
        <p:nvCxnSpPr>
          <p:cNvPr id="8" name="Google Shape;211;p19">
            <a:extLst>
              <a:ext uri="{FF2B5EF4-FFF2-40B4-BE49-F238E27FC236}">
                <a16:creationId xmlns:a16="http://schemas.microsoft.com/office/drawing/2014/main" id="{E8712641-60D6-E9D4-DA25-C2BD29E8B9E7}"/>
              </a:ext>
            </a:extLst>
          </p:cNvPr>
          <p:cNvCxnSpPr/>
          <p:nvPr/>
        </p:nvCxnSpPr>
        <p:spPr>
          <a:xfrm>
            <a:off x="476013" y="761282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" name="Google Shape;220;p19">
            <a:extLst>
              <a:ext uri="{FF2B5EF4-FFF2-40B4-BE49-F238E27FC236}">
                <a16:creationId xmlns:a16="http://schemas.microsoft.com/office/drawing/2014/main" id="{69094BD8-F394-6FC1-3E19-E5CDA011B3EB}"/>
              </a:ext>
            </a:extLst>
          </p:cNvPr>
          <p:cNvGrpSpPr/>
          <p:nvPr/>
        </p:nvGrpSpPr>
        <p:grpSpPr>
          <a:xfrm>
            <a:off x="1326499" y="6082508"/>
            <a:ext cx="7262419" cy="1162247"/>
            <a:chOff x="0" y="-133350"/>
            <a:chExt cx="9683225" cy="1549662"/>
          </a:xfrm>
        </p:grpSpPr>
        <p:sp>
          <p:nvSpPr>
            <p:cNvPr id="10" name="Google Shape;221;p19">
              <a:extLst>
                <a:ext uri="{FF2B5EF4-FFF2-40B4-BE49-F238E27FC236}">
                  <a16:creationId xmlns:a16="http://schemas.microsoft.com/office/drawing/2014/main" id="{D59A780A-CE5C-8A2B-06D6-099ACCAFFB5A}"/>
                </a:ext>
              </a:extLst>
            </p:cNvPr>
            <p:cNvSpPr txBox="1"/>
            <p:nvPr/>
          </p:nvSpPr>
          <p:spPr>
            <a:xfrm>
              <a:off x="0" y="784600"/>
              <a:ext cx="968322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After analysis set length = 62</a:t>
              </a:r>
              <a:endParaRPr dirty="0"/>
            </a:p>
          </p:txBody>
        </p:sp>
        <p:sp>
          <p:nvSpPr>
            <p:cNvPr id="11" name="Google Shape;222;p19">
              <a:extLst>
                <a:ext uri="{FF2B5EF4-FFF2-40B4-BE49-F238E27FC236}">
                  <a16:creationId xmlns:a16="http://schemas.microsoft.com/office/drawing/2014/main" id="{54A71D9B-CECB-86C2-CB66-54E3DCC79491}"/>
                </a:ext>
              </a:extLst>
            </p:cNvPr>
            <p:cNvSpPr txBox="1"/>
            <p:nvPr/>
          </p:nvSpPr>
          <p:spPr>
            <a:xfrm>
              <a:off x="0" y="-133350"/>
              <a:ext cx="968322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Truncation</a:t>
              </a:r>
              <a:endParaRPr dirty="0"/>
            </a:p>
          </p:txBody>
        </p:sp>
      </p:grpSp>
      <p:grpSp>
        <p:nvGrpSpPr>
          <p:cNvPr id="12" name="Google Shape;223;p19">
            <a:extLst>
              <a:ext uri="{FF2B5EF4-FFF2-40B4-BE49-F238E27FC236}">
                <a16:creationId xmlns:a16="http://schemas.microsoft.com/office/drawing/2014/main" id="{E21384A5-86CC-29DE-A77D-6B527DC2582A}"/>
              </a:ext>
            </a:extLst>
          </p:cNvPr>
          <p:cNvGrpSpPr/>
          <p:nvPr/>
        </p:nvGrpSpPr>
        <p:grpSpPr>
          <a:xfrm>
            <a:off x="10609488" y="6082508"/>
            <a:ext cx="7323581" cy="1162247"/>
            <a:chOff x="0" y="-133350"/>
            <a:chExt cx="9764775" cy="1549662"/>
          </a:xfrm>
        </p:grpSpPr>
        <p:sp>
          <p:nvSpPr>
            <p:cNvPr id="13" name="Google Shape;224;p19">
              <a:extLst>
                <a:ext uri="{FF2B5EF4-FFF2-40B4-BE49-F238E27FC236}">
                  <a16:creationId xmlns:a16="http://schemas.microsoft.com/office/drawing/2014/main" id="{2B259FCF-5618-EA0A-E3F5-5A8E27FD9E0C}"/>
                </a:ext>
              </a:extLst>
            </p:cNvPr>
            <p:cNvSpPr txBox="1"/>
            <p:nvPr/>
          </p:nvSpPr>
          <p:spPr>
            <a:xfrm>
              <a:off x="0" y="784600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‘sol1’/’sol2’ </a:t>
              </a:r>
              <a:endParaRPr dirty="0"/>
            </a:p>
          </p:txBody>
        </p:sp>
        <p:sp>
          <p:nvSpPr>
            <p:cNvPr id="14" name="Google Shape;225;p19">
              <a:extLst>
                <a:ext uri="{FF2B5EF4-FFF2-40B4-BE49-F238E27FC236}">
                  <a16:creationId xmlns:a16="http://schemas.microsoft.com/office/drawing/2014/main" id="{5713F36C-166D-710C-724E-D83136097818}"/>
                </a:ext>
              </a:extLst>
            </p:cNvPr>
            <p:cNvSpPr txBox="1"/>
            <p:nvPr/>
          </p:nvSpPr>
          <p:spPr>
            <a:xfrm>
              <a:off x="0" y="-133350"/>
              <a:ext cx="976477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Input Fields</a:t>
              </a:r>
              <a:endParaRPr lang="en-US" sz="3600" dirty="0"/>
            </a:p>
          </p:txBody>
        </p:sp>
      </p:grpSp>
      <p:grpSp>
        <p:nvGrpSpPr>
          <p:cNvPr id="18" name="Google Shape;204;p19">
            <a:extLst>
              <a:ext uri="{FF2B5EF4-FFF2-40B4-BE49-F238E27FC236}">
                <a16:creationId xmlns:a16="http://schemas.microsoft.com/office/drawing/2014/main" id="{1C9FE39B-959A-AC10-F860-3D6F4E935ABE}"/>
              </a:ext>
            </a:extLst>
          </p:cNvPr>
          <p:cNvGrpSpPr/>
          <p:nvPr/>
        </p:nvGrpSpPr>
        <p:grpSpPr>
          <a:xfrm>
            <a:off x="476013" y="8206850"/>
            <a:ext cx="645766" cy="655402"/>
            <a:chOff x="0" y="0"/>
            <a:chExt cx="812800" cy="824929"/>
          </a:xfrm>
        </p:grpSpPr>
        <p:sp>
          <p:nvSpPr>
            <p:cNvPr id="19" name="Google Shape;205;p19">
              <a:extLst>
                <a:ext uri="{FF2B5EF4-FFF2-40B4-BE49-F238E27FC236}">
                  <a16:creationId xmlns:a16="http://schemas.microsoft.com/office/drawing/2014/main" id="{BFEB680A-3787-C937-5647-5CD4A029A922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6;p19">
              <a:extLst>
                <a:ext uri="{FF2B5EF4-FFF2-40B4-BE49-F238E27FC236}">
                  <a16:creationId xmlns:a16="http://schemas.microsoft.com/office/drawing/2014/main" id="{ECD40F39-3CAC-D919-EF06-34046993766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F4F3EE"/>
                  </a:solidFill>
                  <a:latin typeface="Inter"/>
                  <a:ea typeface="Inter"/>
                  <a:sym typeface="Inter"/>
                </a:rPr>
                <a:t>7</a:t>
              </a:r>
              <a:endParaRPr dirty="0"/>
            </a:p>
          </p:txBody>
        </p:sp>
      </p:grpSp>
      <p:grpSp>
        <p:nvGrpSpPr>
          <p:cNvPr id="21" name="Google Shape;207;p19">
            <a:extLst>
              <a:ext uri="{FF2B5EF4-FFF2-40B4-BE49-F238E27FC236}">
                <a16:creationId xmlns:a16="http://schemas.microsoft.com/office/drawing/2014/main" id="{C42FA936-4393-8D22-A867-BBC2DEB36AE6}"/>
              </a:ext>
            </a:extLst>
          </p:cNvPr>
          <p:cNvGrpSpPr/>
          <p:nvPr/>
        </p:nvGrpSpPr>
        <p:grpSpPr>
          <a:xfrm>
            <a:off x="9682113" y="8206850"/>
            <a:ext cx="645766" cy="655402"/>
            <a:chOff x="0" y="0"/>
            <a:chExt cx="812800" cy="824929"/>
          </a:xfrm>
        </p:grpSpPr>
        <p:sp>
          <p:nvSpPr>
            <p:cNvPr id="22" name="Google Shape;208;p19">
              <a:extLst>
                <a:ext uri="{FF2B5EF4-FFF2-40B4-BE49-F238E27FC236}">
                  <a16:creationId xmlns:a16="http://schemas.microsoft.com/office/drawing/2014/main" id="{CF1DE912-21E0-ABB2-990F-85CE6EED936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9;p19">
              <a:extLst>
                <a:ext uri="{FF2B5EF4-FFF2-40B4-BE49-F238E27FC236}">
                  <a16:creationId xmlns:a16="http://schemas.microsoft.com/office/drawing/2014/main" id="{49C7C46D-C820-C454-0DE3-DEB4709300D7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endParaRPr dirty="0"/>
            </a:p>
          </p:txBody>
        </p:sp>
      </p:grpSp>
      <p:cxnSp>
        <p:nvCxnSpPr>
          <p:cNvPr id="24" name="Google Shape;211;p19">
            <a:extLst>
              <a:ext uri="{FF2B5EF4-FFF2-40B4-BE49-F238E27FC236}">
                <a16:creationId xmlns:a16="http://schemas.microsoft.com/office/drawing/2014/main" id="{CA5AEF0E-A8E6-FA55-9437-2D5B3AE938C4}"/>
              </a:ext>
            </a:extLst>
          </p:cNvPr>
          <p:cNvCxnSpPr/>
          <p:nvPr/>
        </p:nvCxnSpPr>
        <p:spPr>
          <a:xfrm>
            <a:off x="476013" y="9515350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" name="Google Shape;220;p19">
            <a:extLst>
              <a:ext uri="{FF2B5EF4-FFF2-40B4-BE49-F238E27FC236}">
                <a16:creationId xmlns:a16="http://schemas.microsoft.com/office/drawing/2014/main" id="{7DD51E3A-3A1E-050D-0BCA-A5D3B19A0E2A}"/>
              </a:ext>
            </a:extLst>
          </p:cNvPr>
          <p:cNvGrpSpPr/>
          <p:nvPr/>
        </p:nvGrpSpPr>
        <p:grpSpPr>
          <a:xfrm>
            <a:off x="1326499" y="7985036"/>
            <a:ext cx="7262419" cy="1162247"/>
            <a:chOff x="0" y="-133350"/>
            <a:chExt cx="9683225" cy="1549661"/>
          </a:xfrm>
        </p:grpSpPr>
        <p:sp>
          <p:nvSpPr>
            <p:cNvPr id="26" name="Google Shape;221;p19">
              <a:extLst>
                <a:ext uri="{FF2B5EF4-FFF2-40B4-BE49-F238E27FC236}">
                  <a16:creationId xmlns:a16="http://schemas.microsoft.com/office/drawing/2014/main" id="{EC1DA2FF-3C48-C514-20C5-B6134EADAC98}"/>
                </a:ext>
              </a:extLst>
            </p:cNvPr>
            <p:cNvSpPr txBox="1"/>
            <p:nvPr/>
          </p:nvSpPr>
          <p:spPr>
            <a:xfrm>
              <a:off x="0" y="784600"/>
              <a:ext cx="968322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Training split (vocabulary) / valid &amp; test split (&lt;UNK&gt;)</a:t>
              </a:r>
              <a:endParaRPr lang="en-US" sz="2400" dirty="0"/>
            </a:p>
          </p:txBody>
        </p:sp>
        <p:sp>
          <p:nvSpPr>
            <p:cNvPr id="27" name="Google Shape;222;p19">
              <a:extLst>
                <a:ext uri="{FF2B5EF4-FFF2-40B4-BE49-F238E27FC236}">
                  <a16:creationId xmlns:a16="http://schemas.microsoft.com/office/drawing/2014/main" id="{5B8BFBE1-CCA2-A34F-655E-E1F59A96A7EE}"/>
                </a:ext>
              </a:extLst>
            </p:cNvPr>
            <p:cNvSpPr txBox="1"/>
            <p:nvPr/>
          </p:nvSpPr>
          <p:spPr>
            <a:xfrm>
              <a:off x="0" y="-133350"/>
              <a:ext cx="968322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Vocabulary &amp; Unknown Words</a:t>
              </a:r>
              <a:endParaRPr lang="en-US" sz="3600" dirty="0"/>
            </a:p>
          </p:txBody>
        </p:sp>
      </p:grpSp>
      <p:grpSp>
        <p:nvGrpSpPr>
          <p:cNvPr id="28" name="Google Shape;223;p19">
            <a:extLst>
              <a:ext uri="{FF2B5EF4-FFF2-40B4-BE49-F238E27FC236}">
                <a16:creationId xmlns:a16="http://schemas.microsoft.com/office/drawing/2014/main" id="{53696164-55C4-CD2A-78B9-1486DD004373}"/>
              </a:ext>
            </a:extLst>
          </p:cNvPr>
          <p:cNvGrpSpPr/>
          <p:nvPr/>
        </p:nvGrpSpPr>
        <p:grpSpPr>
          <a:xfrm>
            <a:off x="10609488" y="7985036"/>
            <a:ext cx="7323581" cy="1162247"/>
            <a:chOff x="0" y="-133350"/>
            <a:chExt cx="9764775" cy="1549661"/>
          </a:xfrm>
        </p:grpSpPr>
        <p:sp>
          <p:nvSpPr>
            <p:cNvPr id="29" name="Google Shape;224;p19">
              <a:extLst>
                <a:ext uri="{FF2B5EF4-FFF2-40B4-BE49-F238E27FC236}">
                  <a16:creationId xmlns:a16="http://schemas.microsoft.com/office/drawing/2014/main" id="{7624E2F7-988F-E39C-801F-00C53E3D38D0}"/>
                </a:ext>
              </a:extLst>
            </p:cNvPr>
            <p:cNvSpPr txBox="1"/>
            <p:nvPr/>
          </p:nvSpPr>
          <p:spPr>
            <a:xfrm>
              <a:off x="0" y="784600"/>
              <a:ext cx="976477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Word-to-index &amp; filled with ‘&lt;PAD&gt;’ for tensor</a:t>
              </a:r>
              <a:endParaRPr dirty="0"/>
            </a:p>
          </p:txBody>
        </p:sp>
        <p:sp>
          <p:nvSpPr>
            <p:cNvPr id="30" name="Google Shape;225;p19">
              <a:extLst>
                <a:ext uri="{FF2B5EF4-FFF2-40B4-BE49-F238E27FC236}">
                  <a16:creationId xmlns:a16="http://schemas.microsoft.com/office/drawing/2014/main" id="{374B87DC-2EC3-B6F3-4193-77049E03B378}"/>
                </a:ext>
              </a:extLst>
            </p:cNvPr>
            <p:cNvSpPr txBox="1"/>
            <p:nvPr/>
          </p:nvSpPr>
          <p:spPr>
            <a:xfrm>
              <a:off x="0" y="-133350"/>
              <a:ext cx="976477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Encoding &amp; Padding</a:t>
              </a:r>
              <a:endParaRPr lang="en-US" sz="36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pSp>
        <p:nvGrpSpPr>
          <p:cNvPr id="31" name="Google Shape;175;p17">
            <a:extLst>
              <a:ext uri="{FF2B5EF4-FFF2-40B4-BE49-F238E27FC236}">
                <a16:creationId xmlns:a16="http://schemas.microsoft.com/office/drawing/2014/main" id="{25C8DB62-A81F-F98D-4B71-586B5F34F12A}"/>
              </a:ext>
            </a:extLst>
          </p:cNvPr>
          <p:cNvGrpSpPr/>
          <p:nvPr/>
        </p:nvGrpSpPr>
        <p:grpSpPr>
          <a:xfrm>
            <a:off x="416422" y="3339154"/>
            <a:ext cx="4380463" cy="1639754"/>
            <a:chOff x="-3" y="-3"/>
            <a:chExt cx="1358700" cy="668400"/>
          </a:xfrm>
        </p:grpSpPr>
        <p:sp>
          <p:nvSpPr>
            <p:cNvPr id="32" name="Google Shape;176;p17">
              <a:extLst>
                <a:ext uri="{FF2B5EF4-FFF2-40B4-BE49-F238E27FC236}">
                  <a16:creationId xmlns:a16="http://schemas.microsoft.com/office/drawing/2014/main" id="{AD1BBEC8-47EE-72DE-0268-1E2AE5C6A74E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7;p17">
              <a:extLst>
                <a:ext uri="{FF2B5EF4-FFF2-40B4-BE49-F238E27FC236}">
                  <a16:creationId xmlns:a16="http://schemas.microsoft.com/office/drawing/2014/main" id="{90D4E2AD-D703-9B9A-3CC0-C48CE78AFCA5}"/>
                </a:ext>
              </a:extLst>
            </p:cNvPr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b="1" dirty="0">
                  <a:solidFill>
                    <a:srgbClr val="074B04"/>
                  </a:solidFill>
                  <a:latin typeface="Lora"/>
                  <a:sym typeface="Lora"/>
                </a:rPr>
                <a:t>input1</a:t>
              </a:r>
              <a:b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</a:b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‘sol1’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[12, 34, 56, …] (62 token ids)</a:t>
              </a:r>
              <a:endParaRPr lang="en-US" dirty="0"/>
            </a:p>
          </p:txBody>
        </p:sp>
      </p:grpSp>
      <p:grpSp>
        <p:nvGrpSpPr>
          <p:cNvPr id="40" name="Google Shape;175;p17">
            <a:extLst>
              <a:ext uri="{FF2B5EF4-FFF2-40B4-BE49-F238E27FC236}">
                <a16:creationId xmlns:a16="http://schemas.microsoft.com/office/drawing/2014/main" id="{5D4B0AA6-FACD-99F3-52A0-72355F9F9E4A}"/>
              </a:ext>
            </a:extLst>
          </p:cNvPr>
          <p:cNvGrpSpPr/>
          <p:nvPr/>
        </p:nvGrpSpPr>
        <p:grpSpPr>
          <a:xfrm>
            <a:off x="416022" y="5409612"/>
            <a:ext cx="4380463" cy="1639754"/>
            <a:chOff x="-3" y="-3"/>
            <a:chExt cx="1358700" cy="668400"/>
          </a:xfrm>
        </p:grpSpPr>
        <p:sp>
          <p:nvSpPr>
            <p:cNvPr id="41" name="Google Shape;176;p17">
              <a:extLst>
                <a:ext uri="{FF2B5EF4-FFF2-40B4-BE49-F238E27FC236}">
                  <a16:creationId xmlns:a16="http://schemas.microsoft.com/office/drawing/2014/main" id="{381454C7-FFC5-D07C-A6DF-6FF3713FBF65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7;p17">
              <a:extLst>
                <a:ext uri="{FF2B5EF4-FFF2-40B4-BE49-F238E27FC236}">
                  <a16:creationId xmlns:a16="http://schemas.microsoft.com/office/drawing/2014/main" id="{0CB91891-3C26-1291-2918-98F569ADF26F}"/>
                </a:ext>
              </a:extLst>
            </p:cNvPr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b="1" dirty="0">
                  <a:solidFill>
                    <a:srgbClr val="074B04"/>
                  </a:solidFill>
                  <a:latin typeface="Lora"/>
                  <a:sym typeface="Lora"/>
                </a:rPr>
                <a:t>input2</a:t>
              </a:r>
              <a:b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</a:b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‘sol2’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[12, 34, 78, …] (62 token ids)</a:t>
              </a:r>
              <a:endParaRPr lang="en-US" dirty="0"/>
            </a:p>
          </p:txBody>
        </p:sp>
      </p:grpSp>
      <p:grpSp>
        <p:nvGrpSpPr>
          <p:cNvPr id="43" name="Google Shape;172;p17">
            <a:extLst>
              <a:ext uri="{FF2B5EF4-FFF2-40B4-BE49-F238E27FC236}">
                <a16:creationId xmlns:a16="http://schemas.microsoft.com/office/drawing/2014/main" id="{8BF0AE1E-E289-ABC4-7DFD-1DAA2C7029EC}"/>
              </a:ext>
            </a:extLst>
          </p:cNvPr>
          <p:cNvGrpSpPr/>
          <p:nvPr/>
        </p:nvGrpSpPr>
        <p:grpSpPr>
          <a:xfrm>
            <a:off x="5652221" y="2303926"/>
            <a:ext cx="5900077" cy="3710210"/>
            <a:chOff x="0" y="-5"/>
            <a:chExt cx="1358700" cy="668401"/>
          </a:xfrm>
        </p:grpSpPr>
        <p:sp>
          <p:nvSpPr>
            <p:cNvPr id="44" name="Google Shape;173;p17">
              <a:extLst>
                <a:ext uri="{FF2B5EF4-FFF2-40B4-BE49-F238E27FC236}">
                  <a16:creationId xmlns:a16="http://schemas.microsoft.com/office/drawing/2014/main" id="{B9AC2184-4FFE-5A47-E1A0-6FBA2BD9F4FC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4;p17">
              <a:extLst>
                <a:ext uri="{FF2B5EF4-FFF2-40B4-BE49-F238E27FC236}">
                  <a16:creationId xmlns:a16="http://schemas.microsoft.com/office/drawing/2014/main" id="{73262136-A9A8-5F79-E035-03B513E829E5}"/>
                </a:ext>
              </a:extLst>
            </p:cNvPr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endParaRPr lang="de-CH" sz="2399" b="1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b="1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de-CH" sz="2399" b="1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mbedding_matrix</a:t>
              </a:r>
              <a:r>
                <a:rPr lang="de-CH" sz="2399" b="1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de-CH" sz="2399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(15470, 300)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each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unique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token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has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ist own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(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fastText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‘cc.en.300.bin‘)</a:t>
              </a:r>
            </a:p>
            <a:p>
              <a:pPr algn="ctr">
                <a:lnSpc>
                  <a:spcPct val="115000"/>
                </a:lnSpc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[[98, 76, 54, …],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[191, 74, 534, …],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…]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endParaRPr lang="de-CH" dirty="0"/>
            </a:p>
          </p:txBody>
        </p:sp>
      </p:grpSp>
      <p:grpSp>
        <p:nvGrpSpPr>
          <p:cNvPr id="46" name="Google Shape;172;p17">
            <a:extLst>
              <a:ext uri="{FF2B5EF4-FFF2-40B4-BE49-F238E27FC236}">
                <a16:creationId xmlns:a16="http://schemas.microsoft.com/office/drawing/2014/main" id="{CFA9C336-8907-FD2D-BE8D-77170E34F463}"/>
              </a:ext>
            </a:extLst>
          </p:cNvPr>
          <p:cNvGrpSpPr/>
          <p:nvPr/>
        </p:nvGrpSpPr>
        <p:grpSpPr>
          <a:xfrm>
            <a:off x="5652221" y="6444832"/>
            <a:ext cx="5899526" cy="2110373"/>
            <a:chOff x="0" y="-5"/>
            <a:chExt cx="1358700" cy="668401"/>
          </a:xfrm>
        </p:grpSpPr>
        <p:sp>
          <p:nvSpPr>
            <p:cNvPr id="47" name="Google Shape;173;p17">
              <a:extLst>
                <a:ext uri="{FF2B5EF4-FFF2-40B4-BE49-F238E27FC236}">
                  <a16:creationId xmlns:a16="http://schemas.microsoft.com/office/drawing/2014/main" id="{DA510919-92B6-0386-43A1-D31EA4008A37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4;p17">
              <a:extLst>
                <a:ext uri="{FF2B5EF4-FFF2-40B4-BE49-F238E27FC236}">
                  <a16:creationId xmlns:a16="http://schemas.microsoft.com/office/drawing/2014/main" id="{DF1DC707-6BCF-DFA7-C1D0-B8D868FDEC3C}"/>
                </a:ext>
              </a:extLst>
            </p:cNvPr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&lt;PAD&gt;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zero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&lt;UNK&gt;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random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&lt;SEP&gt;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random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FC425F9-1552-5650-BBDC-3E21B2D32E1C}"/>
              </a:ext>
            </a:extLst>
          </p:cNvPr>
          <p:cNvSpPr txBox="1"/>
          <p:nvPr/>
        </p:nvSpPr>
        <p:spPr>
          <a:xfrm>
            <a:off x="4943867" y="4809535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4400" dirty="0"/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6E0DC4-10F9-3A1D-6B03-CD3284CF580C}"/>
              </a:ext>
            </a:extLst>
          </p:cNvPr>
          <p:cNvSpPr txBox="1"/>
          <p:nvPr/>
        </p:nvSpPr>
        <p:spPr>
          <a:xfrm>
            <a:off x="11697681" y="4916843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4400" dirty="0"/>
              <a:t>=</a:t>
            </a:r>
          </a:p>
        </p:txBody>
      </p:sp>
      <p:grpSp>
        <p:nvGrpSpPr>
          <p:cNvPr id="53" name="Google Shape;153;p17">
            <a:extLst>
              <a:ext uri="{FF2B5EF4-FFF2-40B4-BE49-F238E27FC236}">
                <a16:creationId xmlns:a16="http://schemas.microsoft.com/office/drawing/2014/main" id="{ABF71504-1CCB-1775-C007-4AA84E85CFBA}"/>
              </a:ext>
            </a:extLst>
          </p:cNvPr>
          <p:cNvGrpSpPr/>
          <p:nvPr/>
        </p:nvGrpSpPr>
        <p:grpSpPr>
          <a:xfrm>
            <a:off x="12407083" y="3874574"/>
            <a:ext cx="5158812" cy="2537834"/>
            <a:chOff x="-3" y="-5"/>
            <a:chExt cx="1358700" cy="668401"/>
          </a:xfrm>
        </p:grpSpPr>
        <p:sp>
          <p:nvSpPr>
            <p:cNvPr id="54" name="Google Shape;154;p17">
              <a:extLst>
                <a:ext uri="{FF2B5EF4-FFF2-40B4-BE49-F238E27FC236}">
                  <a16:creationId xmlns:a16="http://schemas.microsoft.com/office/drawing/2014/main" id="{C860A08C-B271-D6DD-8DBB-D92FE7EA7F1E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5;p17">
              <a:extLst>
                <a:ext uri="{FF2B5EF4-FFF2-40B4-BE49-F238E27FC236}">
                  <a16:creationId xmlns:a16="http://schemas.microsoft.com/office/drawing/2014/main" id="{453E527B-028B-8CC2-FB78-30EF92AF605B}"/>
                </a:ext>
              </a:extLst>
            </p:cNvPr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 b="0" i="0" u="none" strike="noStrike" cap="none">
                  <a:solidFill>
                    <a:srgbClr val="F4F3EE"/>
                  </a:solidFill>
                  <a:latin typeface="Lora"/>
                  <a:ea typeface="Lora"/>
                  <a:cs typeface="Lora"/>
                  <a:sym typeface="Lora"/>
                </a:rPr>
                <a:t>Employees feel uncomfortable</a:t>
              </a:r>
              <a:endParaRPr/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 b="0" i="0" u="none" strike="noStrike" cap="none">
                  <a:solidFill>
                    <a:srgbClr val="F4F3EE"/>
                  </a:solidFill>
                  <a:latin typeface="Lora"/>
                  <a:ea typeface="Lora"/>
                  <a:cs typeface="Lora"/>
                  <a:sym typeface="Lora"/>
                </a:rPr>
                <a:t>or distracted</a:t>
              </a:r>
              <a:endParaRPr/>
            </a:p>
          </p:txBody>
        </p:sp>
      </p:grpSp>
      <p:grpSp>
        <p:nvGrpSpPr>
          <p:cNvPr id="56" name="Google Shape;168;p17">
            <a:extLst>
              <a:ext uri="{FF2B5EF4-FFF2-40B4-BE49-F238E27FC236}">
                <a16:creationId xmlns:a16="http://schemas.microsoft.com/office/drawing/2014/main" id="{F77D0555-EA20-5D14-D75E-F3207BE07046}"/>
              </a:ext>
            </a:extLst>
          </p:cNvPr>
          <p:cNvGrpSpPr/>
          <p:nvPr/>
        </p:nvGrpSpPr>
        <p:grpSpPr>
          <a:xfrm>
            <a:off x="12407083" y="3874574"/>
            <a:ext cx="5158848" cy="2537852"/>
            <a:chOff x="-3" y="-5"/>
            <a:chExt cx="1358700" cy="668401"/>
          </a:xfrm>
        </p:grpSpPr>
        <p:sp>
          <p:nvSpPr>
            <p:cNvPr id="57" name="Google Shape;169;p17">
              <a:extLst>
                <a:ext uri="{FF2B5EF4-FFF2-40B4-BE49-F238E27FC236}">
                  <a16:creationId xmlns:a16="http://schemas.microsoft.com/office/drawing/2014/main" id="{7C83E87E-7619-7439-2514-37DFA6CAB183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0;p17">
              <a:extLst>
                <a:ext uri="{FF2B5EF4-FFF2-40B4-BE49-F238E27FC236}">
                  <a16:creationId xmlns:a16="http://schemas.microsoft.com/office/drawing/2014/main" id="{E1283E17-0ACB-42F5-3876-ECA3C1C0BF0F}"/>
                </a:ext>
              </a:extLst>
            </p:cNvPr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embedded</a:t>
              </a:r>
              <a:r>
                <a:rPr lang="de-CH" sz="2399" b="1" dirty="0">
                  <a:solidFill>
                    <a:srgbClr val="F4F3EE"/>
                  </a:solidFill>
                  <a:latin typeface="Lora"/>
                  <a:sym typeface="Lora"/>
                </a:rPr>
                <a:t> in </a:t>
              </a: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both</a:t>
              </a:r>
              <a:r>
                <a:rPr lang="de-CH" sz="2399" b="1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architectures</a:t>
              </a:r>
              <a:endParaRPr lang="de-CH" sz="2399" b="1" dirty="0">
                <a:solidFill>
                  <a:srgbClr val="F4F3EE"/>
                </a:solidFill>
                <a:latin typeface="Lora"/>
                <a:sym typeface="Lora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(62, 300)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de-CH" sz="2399" dirty="0">
                <a:solidFill>
                  <a:srgbClr val="F4F3EE"/>
                </a:solidFill>
                <a:latin typeface="Lora"/>
                <a:sym typeface="Lora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vector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dim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300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for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each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token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35351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425794" y="4347128"/>
            <a:ext cx="796663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goal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solution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2 *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combined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15471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pooling inputs: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258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 – Architecture </a:t>
            </a:r>
            <a:r>
              <a:rPr lang="en-US" sz="6999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1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895570" y="4347128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diff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combined1 - combined2 </a:t>
            </a:r>
          </a:p>
        </p:txBody>
      </p:sp>
      <p:sp>
        <p:nvSpPr>
          <p:cNvPr id="10" name="Google Shape;188;p18">
            <a:extLst>
              <a:ext uri="{FF2B5EF4-FFF2-40B4-BE49-F238E27FC236}">
                <a16:creationId xmlns:a16="http://schemas.microsoft.com/office/drawing/2014/main" id="{B82BEEFC-A5B5-67E5-DD3B-C45BE913FC2E}"/>
              </a:ext>
            </a:extLst>
          </p:cNvPr>
          <p:cNvSpPr txBox="1"/>
          <p:nvPr/>
        </p:nvSpPr>
        <p:spPr>
          <a:xfrm>
            <a:off x="9885247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compare: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1" name="Google Shape;187;p18">
            <a:extLst>
              <a:ext uri="{FF2B5EF4-FFF2-40B4-BE49-F238E27FC236}">
                <a16:creationId xmlns:a16="http://schemas.microsoft.com/office/drawing/2014/main" id="{FC4AB53A-E178-2FF7-7621-1C102E8B32C6}"/>
              </a:ext>
            </a:extLst>
          </p:cNvPr>
          <p:cNvSpPr txBox="1"/>
          <p:nvPr/>
        </p:nvSpPr>
        <p:spPr>
          <a:xfrm>
            <a:off x="436118" y="7977487"/>
            <a:ext cx="7665465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input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diff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+ combined1</a:t>
            </a:r>
          </a:p>
        </p:txBody>
      </p:sp>
      <p:sp>
        <p:nvSpPr>
          <p:cNvPr id="12" name="Google Shape;188;p18">
            <a:extLst>
              <a:ext uri="{FF2B5EF4-FFF2-40B4-BE49-F238E27FC236}">
                <a16:creationId xmlns:a16="http://schemas.microsoft.com/office/drawing/2014/main" id="{0B0D5219-069B-1372-46A9-CD83AB807FD6}"/>
              </a:ext>
            </a:extLst>
          </p:cNvPr>
          <p:cNvSpPr txBox="1"/>
          <p:nvPr/>
        </p:nvSpPr>
        <p:spPr>
          <a:xfrm>
            <a:off x="425795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classify: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4" name="Google Shape;188;p18">
            <a:extLst>
              <a:ext uri="{FF2B5EF4-FFF2-40B4-BE49-F238E27FC236}">
                <a16:creationId xmlns:a16="http://schemas.microsoft.com/office/drawing/2014/main" id="{499A7505-2586-1D53-BCA6-B26F49766747}"/>
              </a:ext>
            </a:extLst>
          </p:cNvPr>
          <p:cNvSpPr txBox="1"/>
          <p:nvPr/>
        </p:nvSpPr>
        <p:spPr>
          <a:xfrm>
            <a:off x="9895571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output: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5" name="Google Shape;187;p18">
            <a:extLst>
              <a:ext uri="{FF2B5EF4-FFF2-40B4-BE49-F238E27FC236}">
                <a16:creationId xmlns:a16="http://schemas.microsoft.com/office/drawing/2014/main" id="{BD8A25F4-5BC3-5302-4676-AB940CA6AD64}"/>
              </a:ext>
            </a:extLst>
          </p:cNvPr>
          <p:cNvSpPr txBox="1"/>
          <p:nvPr/>
        </p:nvSpPr>
        <p:spPr>
          <a:xfrm>
            <a:off x="9895570" y="797748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logits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argmax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label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14009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425794" y="4347128"/>
            <a:ext cx="796663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LSTM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reads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left-to-right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final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hidden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128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ignore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padding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r>
              <a:rPr lang="de-CH" sz="3000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are</a:t>
            </a:r>
            <a:r>
              <a:rPr lang="de-CH" sz="3000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trainable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15471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encoding inputs: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258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 – Architecture 2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895570" y="4347128"/>
            <a:ext cx="7039117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both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hidden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states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2 * 128 = 256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" name="Google Shape;188;p18">
            <a:extLst>
              <a:ext uri="{FF2B5EF4-FFF2-40B4-BE49-F238E27FC236}">
                <a16:creationId xmlns:a16="http://schemas.microsoft.com/office/drawing/2014/main" id="{B82BEEFC-A5B5-67E5-DD3B-C45BE913FC2E}"/>
              </a:ext>
            </a:extLst>
          </p:cNvPr>
          <p:cNvSpPr txBox="1"/>
          <p:nvPr/>
        </p:nvSpPr>
        <p:spPr>
          <a:xfrm>
            <a:off x="9885247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concatenate: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1" name="Google Shape;187;p18">
            <a:extLst>
              <a:ext uri="{FF2B5EF4-FFF2-40B4-BE49-F238E27FC236}">
                <a16:creationId xmlns:a16="http://schemas.microsoft.com/office/drawing/2014/main" id="{FC4AB53A-E178-2FF7-7621-1C102E8B32C6}"/>
              </a:ext>
            </a:extLst>
          </p:cNvPr>
          <p:cNvSpPr txBox="1"/>
          <p:nvPr/>
        </p:nvSpPr>
        <p:spPr>
          <a:xfrm>
            <a:off x="436118" y="7977487"/>
            <a:ext cx="766546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input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256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" name="Google Shape;188;p18">
            <a:extLst>
              <a:ext uri="{FF2B5EF4-FFF2-40B4-BE49-F238E27FC236}">
                <a16:creationId xmlns:a16="http://schemas.microsoft.com/office/drawing/2014/main" id="{0B0D5219-069B-1372-46A9-CD83AB807FD6}"/>
              </a:ext>
            </a:extLst>
          </p:cNvPr>
          <p:cNvSpPr txBox="1"/>
          <p:nvPr/>
        </p:nvSpPr>
        <p:spPr>
          <a:xfrm>
            <a:off x="425795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classify: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4" name="Google Shape;188;p18">
            <a:extLst>
              <a:ext uri="{FF2B5EF4-FFF2-40B4-BE49-F238E27FC236}">
                <a16:creationId xmlns:a16="http://schemas.microsoft.com/office/drawing/2014/main" id="{499A7505-2586-1D53-BCA6-B26F49766747}"/>
              </a:ext>
            </a:extLst>
          </p:cNvPr>
          <p:cNvSpPr txBox="1"/>
          <p:nvPr/>
        </p:nvSpPr>
        <p:spPr>
          <a:xfrm>
            <a:off x="9895571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output: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5" name="Google Shape;187;p18">
            <a:extLst>
              <a:ext uri="{FF2B5EF4-FFF2-40B4-BE49-F238E27FC236}">
                <a16:creationId xmlns:a16="http://schemas.microsoft.com/office/drawing/2014/main" id="{BD8A25F4-5BC3-5302-4676-AB940CA6AD64}"/>
              </a:ext>
            </a:extLst>
          </p:cNvPr>
          <p:cNvSpPr txBox="1"/>
          <p:nvPr/>
        </p:nvSpPr>
        <p:spPr>
          <a:xfrm>
            <a:off x="9895570" y="797748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logits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argmax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label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89695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Network Architecture 1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DA75A812-2913-7687-B1F4-43461601EB52}"/>
              </a:ext>
            </a:extLst>
          </p:cNvPr>
          <p:cNvSpPr txBox="1"/>
          <p:nvPr/>
        </p:nvSpPr>
        <p:spPr>
          <a:xfrm>
            <a:off x="1376678" y="3046792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fastText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300-dim embeddings, frozen</a:t>
            </a:r>
            <a:endParaRPr sz="800" dirty="0"/>
          </a:p>
        </p:txBody>
      </p:sp>
      <p:cxnSp>
        <p:nvCxnSpPr>
          <p:cNvPr id="3" name="Google Shape;133;p16">
            <a:extLst>
              <a:ext uri="{FF2B5EF4-FFF2-40B4-BE49-F238E27FC236}">
                <a16:creationId xmlns:a16="http://schemas.microsoft.com/office/drawing/2014/main" id="{5A990D87-7F06-4E4A-6E62-790BC8F9B361}"/>
              </a:ext>
            </a:extLst>
          </p:cNvPr>
          <p:cNvCxnSpPr/>
          <p:nvPr/>
        </p:nvCxnSpPr>
        <p:spPr>
          <a:xfrm>
            <a:off x="415471" y="4371071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34;p16">
            <a:extLst>
              <a:ext uri="{FF2B5EF4-FFF2-40B4-BE49-F238E27FC236}">
                <a16:creationId xmlns:a16="http://schemas.microsoft.com/office/drawing/2014/main" id="{0429DDE5-8D7C-5D4B-970D-1DBB24E0719E}"/>
              </a:ext>
            </a:extLst>
          </p:cNvPr>
          <p:cNvCxnSpPr/>
          <p:nvPr/>
        </p:nvCxnSpPr>
        <p:spPr>
          <a:xfrm>
            <a:off x="415471" y="623681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" name="Google Shape;138;p16">
            <a:extLst>
              <a:ext uri="{FF2B5EF4-FFF2-40B4-BE49-F238E27FC236}">
                <a16:creationId xmlns:a16="http://schemas.microsoft.com/office/drawing/2014/main" id="{0175D69E-E85F-D53C-895E-AAD7D7F23DBA}"/>
              </a:ext>
            </a:extLst>
          </p:cNvPr>
          <p:cNvGrpSpPr/>
          <p:nvPr/>
        </p:nvGrpSpPr>
        <p:grpSpPr>
          <a:xfrm>
            <a:off x="415471" y="3057745"/>
            <a:ext cx="645766" cy="655402"/>
            <a:chOff x="0" y="0"/>
            <a:chExt cx="812800" cy="824929"/>
          </a:xfrm>
        </p:grpSpPr>
        <p:sp>
          <p:nvSpPr>
            <p:cNvPr id="13" name="Google Shape;139;p16">
              <a:extLst>
                <a:ext uri="{FF2B5EF4-FFF2-40B4-BE49-F238E27FC236}">
                  <a16:creationId xmlns:a16="http://schemas.microsoft.com/office/drawing/2014/main" id="{7FD973A2-8040-3884-7198-6190626CA39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;p16">
              <a:extLst>
                <a:ext uri="{FF2B5EF4-FFF2-40B4-BE49-F238E27FC236}">
                  <a16:creationId xmlns:a16="http://schemas.microsoft.com/office/drawing/2014/main" id="{8F8EEFFD-B9F6-9BAA-E50F-1AD106C6BE4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17" name="Google Shape;141;p16">
            <a:extLst>
              <a:ext uri="{FF2B5EF4-FFF2-40B4-BE49-F238E27FC236}">
                <a16:creationId xmlns:a16="http://schemas.microsoft.com/office/drawing/2014/main" id="{AF2FE74F-87F0-7354-2C1A-B3C2C423226B}"/>
              </a:ext>
            </a:extLst>
          </p:cNvPr>
          <p:cNvGrpSpPr/>
          <p:nvPr/>
        </p:nvGrpSpPr>
        <p:grpSpPr>
          <a:xfrm>
            <a:off x="415471" y="4970528"/>
            <a:ext cx="645766" cy="655402"/>
            <a:chOff x="0" y="0"/>
            <a:chExt cx="812800" cy="824929"/>
          </a:xfrm>
        </p:grpSpPr>
        <p:sp>
          <p:nvSpPr>
            <p:cNvPr id="18" name="Google Shape;142;p16">
              <a:extLst>
                <a:ext uri="{FF2B5EF4-FFF2-40B4-BE49-F238E27FC236}">
                  <a16:creationId xmlns:a16="http://schemas.microsoft.com/office/drawing/2014/main" id="{09043F4A-749C-C887-52AA-B9C310A420C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3;p16">
              <a:extLst>
                <a:ext uri="{FF2B5EF4-FFF2-40B4-BE49-F238E27FC236}">
                  <a16:creationId xmlns:a16="http://schemas.microsoft.com/office/drawing/2014/main" id="{02E0B209-B88F-7CAE-9919-D91AD40D853F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" name="Google Shape;144;p16">
            <a:extLst>
              <a:ext uri="{FF2B5EF4-FFF2-40B4-BE49-F238E27FC236}">
                <a16:creationId xmlns:a16="http://schemas.microsoft.com/office/drawing/2014/main" id="{03BB5527-51D7-F8D3-2B67-5B9030DA681E}"/>
              </a:ext>
            </a:extLst>
          </p:cNvPr>
          <p:cNvGrpSpPr/>
          <p:nvPr/>
        </p:nvGrpSpPr>
        <p:grpSpPr>
          <a:xfrm>
            <a:off x="415471" y="6882795"/>
            <a:ext cx="645766" cy="655402"/>
            <a:chOff x="0" y="0"/>
            <a:chExt cx="812800" cy="824929"/>
          </a:xfrm>
        </p:grpSpPr>
        <p:sp>
          <p:nvSpPr>
            <p:cNvPr id="21" name="Google Shape;145;p16">
              <a:extLst>
                <a:ext uri="{FF2B5EF4-FFF2-40B4-BE49-F238E27FC236}">
                  <a16:creationId xmlns:a16="http://schemas.microsoft.com/office/drawing/2014/main" id="{161A6EDE-40F8-B665-4BC0-891B23D1291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6;p16">
              <a:extLst>
                <a:ext uri="{FF2B5EF4-FFF2-40B4-BE49-F238E27FC236}">
                  <a16:creationId xmlns:a16="http://schemas.microsoft.com/office/drawing/2014/main" id="{506C4981-5989-3A8E-2AB1-E92BCFD9A04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cxnSp>
        <p:nvCxnSpPr>
          <p:cNvPr id="23" name="Google Shape;148;p16">
            <a:extLst>
              <a:ext uri="{FF2B5EF4-FFF2-40B4-BE49-F238E27FC236}">
                <a16:creationId xmlns:a16="http://schemas.microsoft.com/office/drawing/2014/main" id="{A0BBF91E-8EDF-8136-1405-3A86B96EFCB0}"/>
              </a:ext>
            </a:extLst>
          </p:cNvPr>
          <p:cNvCxnSpPr/>
          <p:nvPr/>
        </p:nvCxnSpPr>
        <p:spPr>
          <a:xfrm>
            <a:off x="415471" y="810255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132;p16">
            <a:extLst>
              <a:ext uri="{FF2B5EF4-FFF2-40B4-BE49-F238E27FC236}">
                <a16:creationId xmlns:a16="http://schemas.microsoft.com/office/drawing/2014/main" id="{4C77C91C-7CB9-FEE5-5F63-E6D0F0F910A7}"/>
              </a:ext>
            </a:extLst>
          </p:cNvPr>
          <p:cNvSpPr txBox="1"/>
          <p:nvPr/>
        </p:nvSpPr>
        <p:spPr>
          <a:xfrm>
            <a:off x="1376678" y="6857208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Linear(600 → hidden) →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ReLU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Dropout → Linear(hidden → 2)</a:t>
            </a:r>
            <a:endParaRPr lang="en-US" sz="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41EBA207-72F8-B5BB-36A9-D647CC6AE561}"/>
              </a:ext>
            </a:extLst>
          </p:cNvPr>
          <p:cNvSpPr txBox="1"/>
          <p:nvPr/>
        </p:nvSpPr>
        <p:spPr>
          <a:xfrm>
            <a:off x="1376678" y="4991469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Separate masked mean pooling for goal and solution → 600-dim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417958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Network Architecture 2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DA75A812-2913-7687-B1F4-43461601EB52}"/>
              </a:ext>
            </a:extLst>
          </p:cNvPr>
          <p:cNvSpPr txBox="1"/>
          <p:nvPr/>
        </p:nvSpPr>
        <p:spPr>
          <a:xfrm>
            <a:off x="1376678" y="3046792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fastText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300-dim embeddings, trainable</a:t>
            </a:r>
            <a:endParaRPr sz="800" dirty="0"/>
          </a:p>
        </p:txBody>
      </p:sp>
      <p:cxnSp>
        <p:nvCxnSpPr>
          <p:cNvPr id="3" name="Google Shape;133;p16">
            <a:extLst>
              <a:ext uri="{FF2B5EF4-FFF2-40B4-BE49-F238E27FC236}">
                <a16:creationId xmlns:a16="http://schemas.microsoft.com/office/drawing/2014/main" id="{5A990D87-7F06-4E4A-6E62-790BC8F9B361}"/>
              </a:ext>
            </a:extLst>
          </p:cNvPr>
          <p:cNvCxnSpPr/>
          <p:nvPr/>
        </p:nvCxnSpPr>
        <p:spPr>
          <a:xfrm>
            <a:off x="415471" y="4371071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34;p16">
            <a:extLst>
              <a:ext uri="{FF2B5EF4-FFF2-40B4-BE49-F238E27FC236}">
                <a16:creationId xmlns:a16="http://schemas.microsoft.com/office/drawing/2014/main" id="{0429DDE5-8D7C-5D4B-970D-1DBB24E0719E}"/>
              </a:ext>
            </a:extLst>
          </p:cNvPr>
          <p:cNvCxnSpPr/>
          <p:nvPr/>
        </p:nvCxnSpPr>
        <p:spPr>
          <a:xfrm>
            <a:off x="415471" y="623681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" name="Google Shape;138;p16">
            <a:extLst>
              <a:ext uri="{FF2B5EF4-FFF2-40B4-BE49-F238E27FC236}">
                <a16:creationId xmlns:a16="http://schemas.microsoft.com/office/drawing/2014/main" id="{0175D69E-E85F-D53C-895E-AAD7D7F23DBA}"/>
              </a:ext>
            </a:extLst>
          </p:cNvPr>
          <p:cNvGrpSpPr/>
          <p:nvPr/>
        </p:nvGrpSpPr>
        <p:grpSpPr>
          <a:xfrm>
            <a:off x="415471" y="3057745"/>
            <a:ext cx="645766" cy="655402"/>
            <a:chOff x="0" y="0"/>
            <a:chExt cx="812800" cy="824929"/>
          </a:xfrm>
        </p:grpSpPr>
        <p:sp>
          <p:nvSpPr>
            <p:cNvPr id="13" name="Google Shape;139;p16">
              <a:extLst>
                <a:ext uri="{FF2B5EF4-FFF2-40B4-BE49-F238E27FC236}">
                  <a16:creationId xmlns:a16="http://schemas.microsoft.com/office/drawing/2014/main" id="{7FD973A2-8040-3884-7198-6190626CA39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;p16">
              <a:extLst>
                <a:ext uri="{FF2B5EF4-FFF2-40B4-BE49-F238E27FC236}">
                  <a16:creationId xmlns:a16="http://schemas.microsoft.com/office/drawing/2014/main" id="{8F8EEFFD-B9F6-9BAA-E50F-1AD106C6BE4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17" name="Google Shape;141;p16">
            <a:extLst>
              <a:ext uri="{FF2B5EF4-FFF2-40B4-BE49-F238E27FC236}">
                <a16:creationId xmlns:a16="http://schemas.microsoft.com/office/drawing/2014/main" id="{AF2FE74F-87F0-7354-2C1A-B3C2C423226B}"/>
              </a:ext>
            </a:extLst>
          </p:cNvPr>
          <p:cNvGrpSpPr/>
          <p:nvPr/>
        </p:nvGrpSpPr>
        <p:grpSpPr>
          <a:xfrm>
            <a:off x="415471" y="4970528"/>
            <a:ext cx="645766" cy="655402"/>
            <a:chOff x="0" y="0"/>
            <a:chExt cx="812800" cy="824929"/>
          </a:xfrm>
        </p:grpSpPr>
        <p:sp>
          <p:nvSpPr>
            <p:cNvPr id="18" name="Google Shape;142;p16">
              <a:extLst>
                <a:ext uri="{FF2B5EF4-FFF2-40B4-BE49-F238E27FC236}">
                  <a16:creationId xmlns:a16="http://schemas.microsoft.com/office/drawing/2014/main" id="{09043F4A-749C-C887-52AA-B9C310A420C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3;p16">
              <a:extLst>
                <a:ext uri="{FF2B5EF4-FFF2-40B4-BE49-F238E27FC236}">
                  <a16:creationId xmlns:a16="http://schemas.microsoft.com/office/drawing/2014/main" id="{02E0B209-B88F-7CAE-9919-D91AD40D853F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" name="Google Shape;144;p16">
            <a:extLst>
              <a:ext uri="{FF2B5EF4-FFF2-40B4-BE49-F238E27FC236}">
                <a16:creationId xmlns:a16="http://schemas.microsoft.com/office/drawing/2014/main" id="{03BB5527-51D7-F8D3-2B67-5B9030DA681E}"/>
              </a:ext>
            </a:extLst>
          </p:cNvPr>
          <p:cNvGrpSpPr/>
          <p:nvPr/>
        </p:nvGrpSpPr>
        <p:grpSpPr>
          <a:xfrm>
            <a:off x="415471" y="6882795"/>
            <a:ext cx="645766" cy="655402"/>
            <a:chOff x="0" y="0"/>
            <a:chExt cx="812800" cy="824929"/>
          </a:xfrm>
        </p:grpSpPr>
        <p:sp>
          <p:nvSpPr>
            <p:cNvPr id="21" name="Google Shape;145;p16">
              <a:extLst>
                <a:ext uri="{FF2B5EF4-FFF2-40B4-BE49-F238E27FC236}">
                  <a16:creationId xmlns:a16="http://schemas.microsoft.com/office/drawing/2014/main" id="{161A6EDE-40F8-B665-4BC0-891B23D1291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6;p16">
              <a:extLst>
                <a:ext uri="{FF2B5EF4-FFF2-40B4-BE49-F238E27FC236}">
                  <a16:creationId xmlns:a16="http://schemas.microsoft.com/office/drawing/2014/main" id="{506C4981-5989-3A8E-2AB1-E92BCFD9A04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cxnSp>
        <p:nvCxnSpPr>
          <p:cNvPr id="23" name="Google Shape;148;p16">
            <a:extLst>
              <a:ext uri="{FF2B5EF4-FFF2-40B4-BE49-F238E27FC236}">
                <a16:creationId xmlns:a16="http://schemas.microsoft.com/office/drawing/2014/main" id="{A0BBF91E-8EDF-8136-1405-3A86B96EFCB0}"/>
              </a:ext>
            </a:extLst>
          </p:cNvPr>
          <p:cNvCxnSpPr/>
          <p:nvPr/>
        </p:nvCxnSpPr>
        <p:spPr>
          <a:xfrm>
            <a:off x="415471" y="810255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132;p16">
            <a:extLst>
              <a:ext uri="{FF2B5EF4-FFF2-40B4-BE49-F238E27FC236}">
                <a16:creationId xmlns:a16="http://schemas.microsoft.com/office/drawing/2014/main" id="{4C77C91C-7CB9-FEE5-5F63-E6D0F0F910A7}"/>
              </a:ext>
            </a:extLst>
          </p:cNvPr>
          <p:cNvSpPr txBox="1"/>
          <p:nvPr/>
        </p:nvSpPr>
        <p:spPr>
          <a:xfrm>
            <a:off x="1376678" y="6477944"/>
            <a:ext cx="1649584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Final hidden state → Linear(2×hidden → hidden) →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ReLU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Dropout → Linear(hidden → 2)</a:t>
            </a:r>
            <a:endParaRPr lang="en-US" sz="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41EBA207-72F8-B5BB-36A9-D647CC6AE561}"/>
              </a:ext>
            </a:extLst>
          </p:cNvPr>
          <p:cNvSpPr txBox="1"/>
          <p:nvPr/>
        </p:nvSpPr>
        <p:spPr>
          <a:xfrm>
            <a:off x="1376678" y="4991469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2-layer LSTM, padding tokens skipped via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pack_padded_sequence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72197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Experiments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6" name="Google Shape;132;p16">
            <a:extLst>
              <a:ext uri="{FF2B5EF4-FFF2-40B4-BE49-F238E27FC236}">
                <a16:creationId xmlns:a16="http://schemas.microsoft.com/office/drawing/2014/main" id="{74E381B3-7A45-24BC-9E50-B27E689D4E7D}"/>
              </a:ext>
            </a:extLst>
          </p:cNvPr>
          <p:cNvSpPr txBox="1"/>
          <p:nvPr/>
        </p:nvSpPr>
        <p:spPr>
          <a:xfrm>
            <a:off x="1376678" y="2459502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Optimizer: </a:t>
            </a:r>
            <a:r>
              <a:rPr lang="en-US" sz="32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AdamW</a:t>
            </a: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, gradient clipping at 1.0</a:t>
            </a:r>
            <a:endParaRPr sz="600" dirty="0"/>
          </a:p>
        </p:txBody>
      </p:sp>
      <p:cxnSp>
        <p:nvCxnSpPr>
          <p:cNvPr id="7" name="Google Shape;133;p16">
            <a:extLst>
              <a:ext uri="{FF2B5EF4-FFF2-40B4-BE49-F238E27FC236}">
                <a16:creationId xmlns:a16="http://schemas.microsoft.com/office/drawing/2014/main" id="{8796F1CE-8D8F-DA7B-D33D-F35EA79E9FE2}"/>
              </a:ext>
            </a:extLst>
          </p:cNvPr>
          <p:cNvCxnSpPr/>
          <p:nvPr/>
        </p:nvCxnSpPr>
        <p:spPr>
          <a:xfrm>
            <a:off x="415471" y="3375363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" name="Google Shape;138;p16">
            <a:extLst>
              <a:ext uri="{FF2B5EF4-FFF2-40B4-BE49-F238E27FC236}">
                <a16:creationId xmlns:a16="http://schemas.microsoft.com/office/drawing/2014/main" id="{01D21230-6386-2D98-CDCA-C4742A24C87B}"/>
              </a:ext>
            </a:extLst>
          </p:cNvPr>
          <p:cNvGrpSpPr/>
          <p:nvPr/>
        </p:nvGrpSpPr>
        <p:grpSpPr>
          <a:xfrm>
            <a:off x="415471" y="2354645"/>
            <a:ext cx="645766" cy="655402"/>
            <a:chOff x="0" y="0"/>
            <a:chExt cx="812800" cy="824929"/>
          </a:xfrm>
        </p:grpSpPr>
        <p:sp>
          <p:nvSpPr>
            <p:cNvPr id="11" name="Google Shape;139;p16">
              <a:extLst>
                <a:ext uri="{FF2B5EF4-FFF2-40B4-BE49-F238E27FC236}">
                  <a16:creationId xmlns:a16="http://schemas.microsoft.com/office/drawing/2014/main" id="{298093EC-A302-2C58-A66C-C301E1EF051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0;p16">
              <a:extLst>
                <a:ext uri="{FF2B5EF4-FFF2-40B4-BE49-F238E27FC236}">
                  <a16:creationId xmlns:a16="http://schemas.microsoft.com/office/drawing/2014/main" id="{6233BA9D-F2C1-2C20-61EC-8BD2C72D40B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sp>
        <p:nvSpPr>
          <p:cNvPr id="43" name="Google Shape;132;p16">
            <a:extLst>
              <a:ext uri="{FF2B5EF4-FFF2-40B4-BE49-F238E27FC236}">
                <a16:creationId xmlns:a16="http://schemas.microsoft.com/office/drawing/2014/main" id="{8E7EB1E0-1DE3-96EB-72E3-2A90F39C2EF6}"/>
              </a:ext>
            </a:extLst>
          </p:cNvPr>
          <p:cNvSpPr txBox="1"/>
          <p:nvPr/>
        </p:nvSpPr>
        <p:spPr>
          <a:xfrm>
            <a:off x="1376678" y="3827098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LR schedule: halved when validation accuracy stops improving (patience 2)</a:t>
            </a:r>
            <a:endParaRPr sz="600" dirty="0"/>
          </a:p>
        </p:txBody>
      </p:sp>
      <p:cxnSp>
        <p:nvCxnSpPr>
          <p:cNvPr id="44" name="Google Shape;133;p16">
            <a:extLst>
              <a:ext uri="{FF2B5EF4-FFF2-40B4-BE49-F238E27FC236}">
                <a16:creationId xmlns:a16="http://schemas.microsoft.com/office/drawing/2014/main" id="{5F1F0874-5B29-C321-E294-C4CC36139DE3}"/>
              </a:ext>
            </a:extLst>
          </p:cNvPr>
          <p:cNvCxnSpPr/>
          <p:nvPr/>
        </p:nvCxnSpPr>
        <p:spPr>
          <a:xfrm>
            <a:off x="415471" y="4742959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138;p16">
            <a:extLst>
              <a:ext uri="{FF2B5EF4-FFF2-40B4-BE49-F238E27FC236}">
                <a16:creationId xmlns:a16="http://schemas.microsoft.com/office/drawing/2014/main" id="{D5B9A4EB-01DD-F191-F45B-993384AE9FDF}"/>
              </a:ext>
            </a:extLst>
          </p:cNvPr>
          <p:cNvGrpSpPr/>
          <p:nvPr/>
        </p:nvGrpSpPr>
        <p:grpSpPr>
          <a:xfrm>
            <a:off x="415471" y="3722241"/>
            <a:ext cx="645766" cy="655402"/>
            <a:chOff x="0" y="0"/>
            <a:chExt cx="812800" cy="824929"/>
          </a:xfrm>
        </p:grpSpPr>
        <p:sp>
          <p:nvSpPr>
            <p:cNvPr id="46" name="Google Shape;139;p16">
              <a:extLst>
                <a:ext uri="{FF2B5EF4-FFF2-40B4-BE49-F238E27FC236}">
                  <a16:creationId xmlns:a16="http://schemas.microsoft.com/office/drawing/2014/main" id="{CE9F6733-8C65-D337-524C-D595E4C99D2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0;p16">
              <a:extLst>
                <a:ext uri="{FF2B5EF4-FFF2-40B4-BE49-F238E27FC236}">
                  <a16:creationId xmlns:a16="http://schemas.microsoft.com/office/drawing/2014/main" id="{0E48F059-3BC6-2923-2CCC-68C939DF3D59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F4F3EE"/>
                  </a:solidFill>
                  <a:latin typeface="Inter"/>
                  <a:ea typeface="Inter"/>
                  <a:sym typeface="Inter"/>
                </a:rPr>
                <a:t>2</a:t>
              </a:r>
              <a:endParaRPr dirty="0"/>
            </a:p>
          </p:txBody>
        </p:sp>
      </p:grpSp>
      <p:sp>
        <p:nvSpPr>
          <p:cNvPr id="58" name="Google Shape;132;p16">
            <a:extLst>
              <a:ext uri="{FF2B5EF4-FFF2-40B4-BE49-F238E27FC236}">
                <a16:creationId xmlns:a16="http://schemas.microsoft.com/office/drawing/2014/main" id="{9E9EF8D3-465F-B571-5F88-1FF278EF4DB6}"/>
              </a:ext>
            </a:extLst>
          </p:cNvPr>
          <p:cNvSpPr txBox="1"/>
          <p:nvPr/>
        </p:nvSpPr>
        <p:spPr>
          <a:xfrm>
            <a:off x="1376678" y="5194693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Early stopping: patience 5 epochs, max 30 epochs</a:t>
            </a:r>
            <a:endParaRPr sz="600" dirty="0"/>
          </a:p>
        </p:txBody>
      </p:sp>
      <p:cxnSp>
        <p:nvCxnSpPr>
          <p:cNvPr id="59" name="Google Shape;133;p16">
            <a:extLst>
              <a:ext uri="{FF2B5EF4-FFF2-40B4-BE49-F238E27FC236}">
                <a16:creationId xmlns:a16="http://schemas.microsoft.com/office/drawing/2014/main" id="{D3D9079A-5DB9-E873-5FE9-F35C5FEE1CEF}"/>
              </a:ext>
            </a:extLst>
          </p:cNvPr>
          <p:cNvCxnSpPr/>
          <p:nvPr/>
        </p:nvCxnSpPr>
        <p:spPr>
          <a:xfrm>
            <a:off x="415471" y="6110554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0" name="Google Shape;138;p16">
            <a:extLst>
              <a:ext uri="{FF2B5EF4-FFF2-40B4-BE49-F238E27FC236}">
                <a16:creationId xmlns:a16="http://schemas.microsoft.com/office/drawing/2014/main" id="{E0BC9525-A29A-9CB9-83B0-12D74B44CE0D}"/>
              </a:ext>
            </a:extLst>
          </p:cNvPr>
          <p:cNvGrpSpPr/>
          <p:nvPr/>
        </p:nvGrpSpPr>
        <p:grpSpPr>
          <a:xfrm>
            <a:off x="415471" y="5089836"/>
            <a:ext cx="645766" cy="655402"/>
            <a:chOff x="0" y="0"/>
            <a:chExt cx="812800" cy="824929"/>
          </a:xfrm>
        </p:grpSpPr>
        <p:sp>
          <p:nvSpPr>
            <p:cNvPr id="61" name="Google Shape;139;p16">
              <a:extLst>
                <a:ext uri="{FF2B5EF4-FFF2-40B4-BE49-F238E27FC236}">
                  <a16:creationId xmlns:a16="http://schemas.microsoft.com/office/drawing/2014/main" id="{EEFD96F1-53DB-525F-954A-1C5353550D7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0;p16">
              <a:extLst>
                <a:ext uri="{FF2B5EF4-FFF2-40B4-BE49-F238E27FC236}">
                  <a16:creationId xmlns:a16="http://schemas.microsoft.com/office/drawing/2014/main" id="{73780A62-1EB5-9290-8D44-5BAA260479A9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dirty="0"/>
            </a:p>
          </p:txBody>
        </p:sp>
      </p:grpSp>
      <p:sp>
        <p:nvSpPr>
          <p:cNvPr id="63" name="Google Shape;132;p16">
            <a:extLst>
              <a:ext uri="{FF2B5EF4-FFF2-40B4-BE49-F238E27FC236}">
                <a16:creationId xmlns:a16="http://schemas.microsoft.com/office/drawing/2014/main" id="{56DA00E5-EC0E-66BE-93BE-AA3FA57399E9}"/>
              </a:ext>
            </a:extLst>
          </p:cNvPr>
          <p:cNvSpPr txBox="1"/>
          <p:nvPr/>
        </p:nvSpPr>
        <p:spPr>
          <a:xfrm>
            <a:off x="1376678" y="6562289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Best model per architecture saved by validation accuracy</a:t>
            </a:r>
            <a:endParaRPr sz="600" dirty="0"/>
          </a:p>
        </p:txBody>
      </p:sp>
      <p:cxnSp>
        <p:nvCxnSpPr>
          <p:cNvPr id="64" name="Google Shape;133;p16">
            <a:extLst>
              <a:ext uri="{FF2B5EF4-FFF2-40B4-BE49-F238E27FC236}">
                <a16:creationId xmlns:a16="http://schemas.microsoft.com/office/drawing/2014/main" id="{F2B814A6-08B4-2627-62DB-AFCBF72DA98C}"/>
              </a:ext>
            </a:extLst>
          </p:cNvPr>
          <p:cNvCxnSpPr/>
          <p:nvPr/>
        </p:nvCxnSpPr>
        <p:spPr>
          <a:xfrm>
            <a:off x="415471" y="7478150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5" name="Google Shape;138;p16">
            <a:extLst>
              <a:ext uri="{FF2B5EF4-FFF2-40B4-BE49-F238E27FC236}">
                <a16:creationId xmlns:a16="http://schemas.microsoft.com/office/drawing/2014/main" id="{D4F3BB1B-FAA9-E0EE-2277-48F3561F50B3}"/>
              </a:ext>
            </a:extLst>
          </p:cNvPr>
          <p:cNvGrpSpPr/>
          <p:nvPr/>
        </p:nvGrpSpPr>
        <p:grpSpPr>
          <a:xfrm>
            <a:off x="415471" y="6457432"/>
            <a:ext cx="645766" cy="655402"/>
            <a:chOff x="0" y="0"/>
            <a:chExt cx="812800" cy="824929"/>
          </a:xfrm>
        </p:grpSpPr>
        <p:sp>
          <p:nvSpPr>
            <p:cNvPr id="66" name="Google Shape;139;p16">
              <a:extLst>
                <a:ext uri="{FF2B5EF4-FFF2-40B4-BE49-F238E27FC236}">
                  <a16:creationId xmlns:a16="http://schemas.microsoft.com/office/drawing/2014/main" id="{67ECCD3D-922F-4258-EBBC-79600449F29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0;p16">
              <a:extLst>
                <a:ext uri="{FF2B5EF4-FFF2-40B4-BE49-F238E27FC236}">
                  <a16:creationId xmlns:a16="http://schemas.microsoft.com/office/drawing/2014/main" id="{7EF2F2C9-3545-C07A-8C7C-FD0E34E7E581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dirty="0"/>
            </a:p>
          </p:txBody>
        </p:sp>
      </p:grpSp>
      <p:sp>
        <p:nvSpPr>
          <p:cNvPr id="68" name="Google Shape;132;p16">
            <a:extLst>
              <a:ext uri="{FF2B5EF4-FFF2-40B4-BE49-F238E27FC236}">
                <a16:creationId xmlns:a16="http://schemas.microsoft.com/office/drawing/2014/main" id="{23BB8A95-4941-E415-9B00-E7C02A4E9385}"/>
              </a:ext>
            </a:extLst>
          </p:cNvPr>
          <p:cNvSpPr txBox="1"/>
          <p:nvPr/>
        </p:nvSpPr>
        <p:spPr>
          <a:xfrm>
            <a:off x="1376678" y="7946696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Bayesian hyperparameter sweep (20 runs per architecture)</a:t>
            </a:r>
            <a:endParaRPr lang="en-US" sz="600" dirty="0"/>
          </a:p>
        </p:txBody>
      </p:sp>
      <p:cxnSp>
        <p:nvCxnSpPr>
          <p:cNvPr id="69" name="Google Shape;133;p16">
            <a:extLst>
              <a:ext uri="{FF2B5EF4-FFF2-40B4-BE49-F238E27FC236}">
                <a16:creationId xmlns:a16="http://schemas.microsoft.com/office/drawing/2014/main" id="{4804FE61-94B6-107B-F2F4-D66E1742F049}"/>
              </a:ext>
            </a:extLst>
          </p:cNvPr>
          <p:cNvCxnSpPr/>
          <p:nvPr/>
        </p:nvCxnSpPr>
        <p:spPr>
          <a:xfrm>
            <a:off x="415471" y="8862557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138;p16">
            <a:extLst>
              <a:ext uri="{FF2B5EF4-FFF2-40B4-BE49-F238E27FC236}">
                <a16:creationId xmlns:a16="http://schemas.microsoft.com/office/drawing/2014/main" id="{7E28FBDF-E8A7-4D41-3287-7E5555C5ED73}"/>
              </a:ext>
            </a:extLst>
          </p:cNvPr>
          <p:cNvGrpSpPr/>
          <p:nvPr/>
        </p:nvGrpSpPr>
        <p:grpSpPr>
          <a:xfrm>
            <a:off x="415471" y="7841839"/>
            <a:ext cx="645766" cy="655402"/>
            <a:chOff x="0" y="0"/>
            <a:chExt cx="812800" cy="824929"/>
          </a:xfrm>
        </p:grpSpPr>
        <p:sp>
          <p:nvSpPr>
            <p:cNvPr id="71" name="Google Shape;139;p16">
              <a:extLst>
                <a:ext uri="{FF2B5EF4-FFF2-40B4-BE49-F238E27FC236}">
                  <a16:creationId xmlns:a16="http://schemas.microsoft.com/office/drawing/2014/main" id="{414B3459-5823-8047-0B42-D3F653F8095A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0;p16">
              <a:extLst>
                <a:ext uri="{FF2B5EF4-FFF2-40B4-BE49-F238E27FC236}">
                  <a16:creationId xmlns:a16="http://schemas.microsoft.com/office/drawing/2014/main" id="{869221A9-4E42-0F96-72A6-4FF1E87590B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604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Experiments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68" name="Google Shape;132;p16">
            <a:extLst>
              <a:ext uri="{FF2B5EF4-FFF2-40B4-BE49-F238E27FC236}">
                <a16:creationId xmlns:a16="http://schemas.microsoft.com/office/drawing/2014/main" id="{23BB8A95-4941-E415-9B00-E7C02A4E9385}"/>
              </a:ext>
            </a:extLst>
          </p:cNvPr>
          <p:cNvSpPr txBox="1"/>
          <p:nvPr/>
        </p:nvSpPr>
        <p:spPr>
          <a:xfrm>
            <a:off x="1376678" y="2131112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Bayesian hyperparameter sweep (20 runs per architecture)</a:t>
            </a:r>
            <a:endParaRPr lang="en-US" sz="600" dirty="0"/>
          </a:p>
        </p:txBody>
      </p:sp>
      <p:cxnSp>
        <p:nvCxnSpPr>
          <p:cNvPr id="69" name="Google Shape;133;p16">
            <a:extLst>
              <a:ext uri="{FF2B5EF4-FFF2-40B4-BE49-F238E27FC236}">
                <a16:creationId xmlns:a16="http://schemas.microsoft.com/office/drawing/2014/main" id="{4804FE61-94B6-107B-F2F4-D66E1742F049}"/>
              </a:ext>
            </a:extLst>
          </p:cNvPr>
          <p:cNvCxnSpPr/>
          <p:nvPr/>
        </p:nvCxnSpPr>
        <p:spPr>
          <a:xfrm>
            <a:off x="415471" y="3046973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138;p16">
            <a:extLst>
              <a:ext uri="{FF2B5EF4-FFF2-40B4-BE49-F238E27FC236}">
                <a16:creationId xmlns:a16="http://schemas.microsoft.com/office/drawing/2014/main" id="{7E28FBDF-E8A7-4D41-3287-7E5555C5ED73}"/>
              </a:ext>
            </a:extLst>
          </p:cNvPr>
          <p:cNvGrpSpPr/>
          <p:nvPr/>
        </p:nvGrpSpPr>
        <p:grpSpPr>
          <a:xfrm>
            <a:off x="415471" y="2026255"/>
            <a:ext cx="645766" cy="655402"/>
            <a:chOff x="0" y="0"/>
            <a:chExt cx="812800" cy="824929"/>
          </a:xfrm>
        </p:grpSpPr>
        <p:sp>
          <p:nvSpPr>
            <p:cNvPr id="71" name="Google Shape;139;p16">
              <a:extLst>
                <a:ext uri="{FF2B5EF4-FFF2-40B4-BE49-F238E27FC236}">
                  <a16:creationId xmlns:a16="http://schemas.microsoft.com/office/drawing/2014/main" id="{414B3459-5823-8047-0B42-D3F653F8095A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0;p16">
              <a:extLst>
                <a:ext uri="{FF2B5EF4-FFF2-40B4-BE49-F238E27FC236}">
                  <a16:creationId xmlns:a16="http://schemas.microsoft.com/office/drawing/2014/main" id="{869221A9-4E42-0F96-72A6-4FF1E87590B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7B9151-39F6-DAD9-32FF-B4DBB9D75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047887"/>
              </p:ext>
            </p:extLst>
          </p:nvPr>
        </p:nvGraphicFramePr>
        <p:xfrm>
          <a:off x="1262742" y="4071484"/>
          <a:ext cx="14922138" cy="4487250"/>
        </p:xfrm>
        <a:graphic>
          <a:graphicData uri="http://schemas.openxmlformats.org/drawingml/2006/table">
            <a:tbl>
              <a:tblPr firstRow="1" bandRow="1">
                <a:tableStyleId>{A9916837-6587-4D0C-93F5-A9B43CBFF435}</a:tableStyleId>
              </a:tblPr>
              <a:tblGrid>
                <a:gridCol w="7461069">
                  <a:extLst>
                    <a:ext uri="{9D8B030D-6E8A-4147-A177-3AD203B41FA5}">
                      <a16:colId xmlns:a16="http://schemas.microsoft.com/office/drawing/2014/main" val="664413261"/>
                    </a:ext>
                  </a:extLst>
                </a:gridCol>
                <a:gridCol w="7461069">
                  <a:extLst>
                    <a:ext uri="{9D8B030D-6E8A-4147-A177-3AD203B41FA5}">
                      <a16:colId xmlns:a16="http://schemas.microsoft.com/office/drawing/2014/main" val="685644387"/>
                    </a:ext>
                  </a:extLst>
                </a:gridCol>
              </a:tblGrid>
              <a:tr h="897450"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hyperparameter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values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989785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learning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1e-3, 1e-4, 1e-5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2953956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w</a:t>
                      </a:r>
                      <a:r>
                        <a:rPr lang="en-CH" sz="3200" dirty="0">
                          <a:latin typeface="Lora" pitchFamily="2" charset="77"/>
                        </a:rPr>
                        <a:t>eight decay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1e-3, 1e-4, 1e-5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68193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hidden</a:t>
                      </a:r>
                      <a:r>
                        <a:rPr lang="en-CH" sz="3200" dirty="0">
                          <a:latin typeface="Lora" pitchFamily="2" charset="77"/>
                        </a:rPr>
                        <a:t> dim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H" sz="3200" dirty="0">
                          <a:latin typeface="Lora" pitchFamily="2" charset="77"/>
                        </a:rPr>
                        <a:t>128, 256, 512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621674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dropout probability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H" sz="3200" dirty="0">
                          <a:latin typeface="Lora" pitchFamily="2" charset="77"/>
                        </a:rPr>
                        <a:t>0.1, 0.3, 0.5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84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17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Results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7B9151-39F6-DAD9-32FF-B4DBB9D75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49704"/>
              </p:ext>
            </p:extLst>
          </p:nvPr>
        </p:nvGraphicFramePr>
        <p:xfrm>
          <a:off x="1682931" y="4199500"/>
          <a:ext cx="14922138" cy="2692350"/>
        </p:xfrm>
        <a:graphic>
          <a:graphicData uri="http://schemas.openxmlformats.org/drawingml/2006/table">
            <a:tbl>
              <a:tblPr firstRow="1" bandRow="1">
                <a:tableStyleId>{A9916837-6587-4D0C-93F5-A9B43CBFF435}</a:tableStyleId>
              </a:tblPr>
              <a:tblGrid>
                <a:gridCol w="4974046">
                  <a:extLst>
                    <a:ext uri="{9D8B030D-6E8A-4147-A177-3AD203B41FA5}">
                      <a16:colId xmlns:a16="http://schemas.microsoft.com/office/drawing/2014/main" val="2950585581"/>
                    </a:ext>
                  </a:extLst>
                </a:gridCol>
                <a:gridCol w="4974046">
                  <a:extLst>
                    <a:ext uri="{9D8B030D-6E8A-4147-A177-3AD203B41FA5}">
                      <a16:colId xmlns:a16="http://schemas.microsoft.com/office/drawing/2014/main" val="664413261"/>
                    </a:ext>
                  </a:extLst>
                </a:gridCol>
                <a:gridCol w="4974046">
                  <a:extLst>
                    <a:ext uri="{9D8B030D-6E8A-4147-A177-3AD203B41FA5}">
                      <a16:colId xmlns:a16="http://schemas.microsoft.com/office/drawing/2014/main" val="685644387"/>
                    </a:ext>
                  </a:extLst>
                </a:gridCol>
              </a:tblGrid>
              <a:tr h="897450">
                <a:tc>
                  <a:txBody>
                    <a:bodyPr/>
                    <a:lstStyle/>
                    <a:p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loss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accuracy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989785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Embedding Classifier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0.7058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0.563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2953956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RNN Classifier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4.69834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0.576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6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62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Interpretation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652610" y="3236966"/>
            <a:ext cx="7039117" cy="162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RNN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outperforms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order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matters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commonsense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" name="Google Shape;187;p18">
            <a:extLst>
              <a:ext uri="{FF2B5EF4-FFF2-40B4-BE49-F238E27FC236}">
                <a16:creationId xmlns:a16="http://schemas.microsoft.com/office/drawing/2014/main" id="{EB01EC2A-C22D-DDE6-2761-2E0D7BB0EC3A}"/>
              </a:ext>
            </a:extLst>
          </p:cNvPr>
          <p:cNvSpPr txBox="1"/>
          <p:nvPr/>
        </p:nvSpPr>
        <p:spPr>
          <a:xfrm>
            <a:off x="9652611" y="323696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" name="Google Shape;187;p18">
            <a:extLst>
              <a:ext uri="{FF2B5EF4-FFF2-40B4-BE49-F238E27FC236}">
                <a16:creationId xmlns:a16="http://schemas.microsoft.com/office/drawing/2014/main" id="{97BBF07A-70F0-4571-2B3E-B8B2CE57F472}"/>
              </a:ext>
            </a:extLst>
          </p:cNvPr>
          <p:cNvSpPr txBox="1"/>
          <p:nvPr/>
        </p:nvSpPr>
        <p:spPr>
          <a:xfrm>
            <a:off x="1255371" y="3236966"/>
            <a:ext cx="7039117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RNN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trains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significantly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slower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more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parameters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sequential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computation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" name="Google Shape;187;p18">
            <a:extLst>
              <a:ext uri="{FF2B5EF4-FFF2-40B4-BE49-F238E27FC236}">
                <a16:creationId xmlns:a16="http://schemas.microsoft.com/office/drawing/2014/main" id="{4112178D-32B4-04BE-BAD7-AD8273B0A876}"/>
              </a:ext>
            </a:extLst>
          </p:cNvPr>
          <p:cNvSpPr txBox="1"/>
          <p:nvPr/>
        </p:nvSpPr>
        <p:spPr>
          <a:xfrm>
            <a:off x="9652610" y="6060433"/>
            <a:ext cx="7039117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even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large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models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struggle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without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physical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world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experience</a:t>
            </a:r>
            <a:endParaRPr lang="de-CH" sz="3000" b="1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" name="Google Shape;187;p18">
            <a:extLst>
              <a:ext uri="{FF2B5EF4-FFF2-40B4-BE49-F238E27FC236}">
                <a16:creationId xmlns:a16="http://schemas.microsoft.com/office/drawing/2014/main" id="{9E2A3DB5-C472-3782-F37C-811627EB5F83}"/>
              </a:ext>
            </a:extLst>
          </p:cNvPr>
          <p:cNvSpPr txBox="1"/>
          <p:nvPr/>
        </p:nvSpPr>
        <p:spPr>
          <a:xfrm>
            <a:off x="1255370" y="6060433"/>
            <a:ext cx="7039117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Most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impactful</a:t>
            </a:r>
            <a:r>
              <a:rPr lang="de-CH" sz="3000" b="1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1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decisions</a:t>
            </a:r>
            <a:endParaRPr lang="de-CH" sz="3000" b="1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separate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goal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/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solution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pooling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pack_padded_sequence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54079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806-6E4C-3D70-6C93-F5161E05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24" y="3989550"/>
            <a:ext cx="13321376" cy="2307900"/>
          </a:xfrm>
        </p:spPr>
        <p:txBody>
          <a:bodyPr/>
          <a:lstStyle/>
          <a:p>
            <a:r>
              <a:rPr lang="en-GB" dirty="0"/>
              <a:t>Thank You For Your Attention!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50511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806-6E4C-3D70-6C93-F5161E05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24" y="3989550"/>
            <a:ext cx="13321376" cy="2307900"/>
          </a:xfrm>
        </p:spPr>
        <p:txBody>
          <a:bodyPr/>
          <a:lstStyle/>
          <a:p>
            <a:r>
              <a:rPr lang="en-GB" dirty="0"/>
              <a:t>Are There Any Questions?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695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607</Words>
  <Application>Microsoft Macintosh PowerPoint</Application>
  <PresentationFormat>Custom</PresentationFormat>
  <Paragraphs>134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Inter</vt:lpstr>
      <vt:lpstr>Arial</vt:lpstr>
      <vt:lpstr>Lora</vt:lpstr>
      <vt:lpstr>Inter Thin</vt:lpstr>
      <vt:lpstr>Calibri</vt:lpstr>
      <vt:lpstr>Wingdings</vt:lpstr>
      <vt:lpstr>Office Theme</vt:lpstr>
      <vt:lpstr>Word Embeddings &amp; RNN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</vt:lpstr>
      <vt:lpstr>Are There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Vogel Sacha I.BSCAIML.2301</cp:lastModifiedBy>
  <cp:revision>48</cp:revision>
  <dcterms:modified xsi:type="dcterms:W3CDTF">2026-04-08T09:26:08Z</dcterms:modified>
</cp:coreProperties>
</file>